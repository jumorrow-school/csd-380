
<file path=[Content_Types].xml><?xml version="1.0" encoding="utf-8"?>
<Types xmlns="http://schemas.openxmlformats.org/package/2006/content-types">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8"/>
  </p:notesMasterIdLst>
  <p:handoutMasterIdLst>
    <p:handoutMasterId r:id="rId19"/>
  </p:handoutMasterIdLst>
  <p:sldIdLst>
    <p:sldId id="296" r:id="rId5"/>
    <p:sldId id="297" r:id="rId6"/>
    <p:sldId id="286" r:id="rId7"/>
    <p:sldId id="261" r:id="rId8"/>
    <p:sldId id="285" r:id="rId9"/>
    <p:sldId id="263" r:id="rId10"/>
    <p:sldId id="265" r:id="rId11"/>
    <p:sldId id="262" r:id="rId12"/>
    <p:sldId id="278" r:id="rId13"/>
    <p:sldId id="267" r:id="rId14"/>
    <p:sldId id="279" r:id="rId15"/>
    <p:sldId id="280" r:id="rId16"/>
    <p:sldId id="28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567A"/>
    <a:srgbClr val="0D1D51"/>
    <a:srgbClr val="0072C7"/>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887" autoAdjust="0"/>
  </p:normalViewPr>
  <p:slideViewPr>
    <p:cSldViewPr snapToGrid="0" showGuides="1">
      <p:cViewPr varScale="1">
        <p:scale>
          <a:sx n="97" d="100"/>
          <a:sy n="97" d="100"/>
        </p:scale>
        <p:origin x="1110" y="84"/>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00" d="100"/>
          <a:sy n="100" d="100"/>
        </p:scale>
        <p:origin x="1560" y="-146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5" qsCatId="simple" csTypeId="urn:microsoft.com/office/officeart/2005/8/colors/accent1_2" csCatId="accent1" phldr="1"/>
      <dgm:spPr/>
      <dgm:t>
        <a:bodyPr/>
        <a:lstStyle/>
        <a:p>
          <a:endParaRPr lang="en-US"/>
        </a:p>
      </dgm:t>
    </dgm:pt>
    <dgm:pt modelId="{A8C03FBB-4A75-4460-AEA6-DEAEB9C61496}">
      <dgm:prSet phldrT="[Text]" phldr="0"/>
      <dgm:spPr/>
      <dgm:t>
        <a:bodyPr/>
        <a:lstStyle/>
        <a:p>
          <a:pPr>
            <a:defRPr b="1"/>
          </a:pPr>
          <a:r>
            <a:rPr lang="en-US" dirty="0">
              <a:solidFill>
                <a:schemeClr val="accent2">
                  <a:lumMod val="25000"/>
                </a:schemeClr>
              </a:solidFill>
              <a:latin typeface="+mn-lt"/>
            </a:rPr>
            <a:t>Q3</a:t>
          </a:r>
        </a:p>
      </dgm:t>
    </dgm:pt>
    <dgm:pt modelId="{4E972F7F-4B1B-47AA-A25B-1FFC561F1C76}" type="parTrans" cxnId="{D3D81948-D963-4D1E-AE16-9705EAF510FC}">
      <dgm:prSet/>
      <dgm:spPr/>
      <dgm:t>
        <a:bodyPr/>
        <a:lstStyle/>
        <a:p>
          <a:endParaRPr lang="en-US">
            <a:latin typeface="+mn-lt"/>
          </a:endParaRPr>
        </a:p>
      </dgm:t>
    </dgm:pt>
    <dgm:pt modelId="{67361508-930A-4A23-8CFC-BB56DA645C3C}" type="sibTrans" cxnId="{D3D81948-D963-4D1E-AE16-9705EAF510FC}">
      <dgm:prSet/>
      <dgm:spPr/>
      <dgm:t>
        <a:bodyPr/>
        <a:lstStyle/>
        <a:p>
          <a:endParaRPr lang="en-US">
            <a:latin typeface="+mn-lt"/>
          </a:endParaRPr>
        </a:p>
      </dgm:t>
    </dgm:pt>
    <dgm:pt modelId="{5E71F362-34DF-4EEC-92A3-0EFE450E05E4}">
      <dgm:prSet phldrT="[Text]" phldr="0" custT="1"/>
      <dgm:spPr>
        <a:solidFill>
          <a:schemeClr val="accent3">
            <a:alpha val="90000"/>
          </a:schemeClr>
        </a:solidFill>
      </dgm:spPr>
      <dgm:t>
        <a:bodyPr/>
        <a:lstStyle/>
        <a:p>
          <a:pPr algn="ctr"/>
          <a:r>
            <a:rPr lang="en-US" sz="1800" dirty="0">
              <a:solidFill>
                <a:schemeClr val="accent2">
                  <a:lumMod val="25000"/>
                </a:schemeClr>
              </a:solidFill>
              <a:latin typeface="+mn-lt"/>
            </a:rPr>
            <a:t>Market research</a:t>
          </a:r>
        </a:p>
      </dgm:t>
    </dgm:pt>
    <dgm:pt modelId="{8E5EE4D1-908E-455C-B8B3-281AD42DEC9A}" type="parTrans" cxnId="{B99CA6C9-28D1-4DDB-B8EC-AED73AD115CA}">
      <dgm:prSet/>
      <dgm:spPr/>
      <dgm:t>
        <a:bodyPr/>
        <a:lstStyle/>
        <a:p>
          <a:endParaRPr lang="en-US">
            <a:latin typeface="+mn-lt"/>
          </a:endParaRPr>
        </a:p>
      </dgm:t>
    </dgm:pt>
    <dgm:pt modelId="{B208B24A-E9FD-40A9-B764-FB7C2B7ED8B9}" type="sibTrans" cxnId="{B99CA6C9-28D1-4DDB-B8EC-AED73AD115CA}">
      <dgm:prSet/>
      <dgm:spPr/>
      <dgm:t>
        <a:bodyPr/>
        <a:lstStyle/>
        <a:p>
          <a:endParaRPr lang="en-US">
            <a:latin typeface="+mn-lt"/>
          </a:endParaRPr>
        </a:p>
      </dgm:t>
    </dgm:pt>
    <dgm:pt modelId="{91969DED-4CB8-4A14-A50B-3F7B848E46B5}">
      <dgm:prSet phldrT="[Text]" phldr="0"/>
      <dgm:spPr/>
      <dgm:t>
        <a:bodyPr/>
        <a:lstStyle/>
        <a:p>
          <a:pPr>
            <a:defRPr b="1"/>
          </a:pPr>
          <a:r>
            <a:rPr lang="en-US" dirty="0">
              <a:solidFill>
                <a:schemeClr val="accent2">
                  <a:lumMod val="25000"/>
                </a:schemeClr>
              </a:solidFill>
              <a:latin typeface="+mn-lt"/>
            </a:rPr>
            <a:t>Q4</a:t>
          </a:r>
        </a:p>
      </dgm:t>
    </dgm:pt>
    <dgm:pt modelId="{441CD73D-85E1-42A6-BCF8-362A3247E2F3}" type="parTrans" cxnId="{537F2ED0-8BD0-4AD5-B60D-89B660EDA1AC}">
      <dgm:prSet/>
      <dgm:spPr/>
      <dgm:t>
        <a:bodyPr/>
        <a:lstStyle/>
        <a:p>
          <a:endParaRPr lang="en-US">
            <a:latin typeface="+mn-lt"/>
          </a:endParaRPr>
        </a:p>
      </dgm:t>
    </dgm:pt>
    <dgm:pt modelId="{81CA8AA2-C0C3-4381-BA8B-413EDD578B83}" type="sibTrans" cxnId="{537F2ED0-8BD0-4AD5-B60D-89B660EDA1AC}">
      <dgm:prSet/>
      <dgm:spPr/>
      <dgm:t>
        <a:bodyPr/>
        <a:lstStyle/>
        <a:p>
          <a:endParaRPr lang="en-US">
            <a:latin typeface="+mn-lt"/>
          </a:endParaRPr>
        </a:p>
      </dgm:t>
    </dgm:pt>
    <dgm:pt modelId="{8A04F340-E8E1-4146-9905-E7ADCAEAABD7}">
      <dgm:prSet phldrT="[Text]" phldr="0" custT="1"/>
      <dgm:spPr>
        <a:solidFill>
          <a:schemeClr val="accent3">
            <a:alpha val="90000"/>
          </a:schemeClr>
        </a:solidFill>
      </dgm:spPr>
      <dgm:t>
        <a:bodyPr/>
        <a:lstStyle/>
        <a:p>
          <a:pPr algn="ctr"/>
          <a:r>
            <a:rPr lang="en-US" sz="1800" dirty="0">
              <a:solidFill>
                <a:schemeClr val="accent2">
                  <a:lumMod val="25000"/>
                </a:schemeClr>
              </a:solidFill>
              <a:latin typeface="+mn-lt"/>
            </a:rPr>
            <a:t>Product development</a:t>
          </a:r>
        </a:p>
      </dgm:t>
    </dgm:pt>
    <dgm:pt modelId="{4EBD5EC2-45ED-4ED6-8376-97D155A911AE}" type="parTrans" cxnId="{E636BFFB-0404-4D4B-B3F0-C64FDFD9DDEF}">
      <dgm:prSet/>
      <dgm:spPr/>
      <dgm:t>
        <a:bodyPr/>
        <a:lstStyle/>
        <a:p>
          <a:endParaRPr lang="en-US">
            <a:latin typeface="+mn-lt"/>
          </a:endParaRPr>
        </a:p>
      </dgm:t>
    </dgm:pt>
    <dgm:pt modelId="{F9CD2A04-6A34-4104-A971-391788B88F55}" type="sibTrans" cxnId="{E636BFFB-0404-4D4B-B3F0-C64FDFD9DDEF}">
      <dgm:prSet/>
      <dgm:spPr/>
      <dgm:t>
        <a:bodyPr/>
        <a:lstStyle/>
        <a:p>
          <a:endParaRPr lang="en-US">
            <a:latin typeface="+mn-lt"/>
          </a:endParaRPr>
        </a:p>
      </dgm:t>
    </dgm:pt>
    <dgm:pt modelId="{3CC73758-10C1-47F8-AFA7-1A986D4DDD60}">
      <dgm:prSet phldrT="[Text]" phldr="0"/>
      <dgm:spPr/>
      <dgm:t>
        <a:bodyPr/>
        <a:lstStyle/>
        <a:p>
          <a:pPr>
            <a:defRPr b="1"/>
          </a:pPr>
          <a:r>
            <a:rPr lang="en-US" dirty="0">
              <a:solidFill>
                <a:schemeClr val="accent2">
                  <a:lumMod val="25000"/>
                </a:schemeClr>
              </a:solidFill>
              <a:latin typeface="+mn-lt"/>
            </a:rPr>
            <a:t>Q1</a:t>
          </a:r>
        </a:p>
      </dgm:t>
    </dgm:pt>
    <dgm:pt modelId="{FF6AE4B6-4A2F-49EE-9316-9AF55E77838B}" type="parTrans" cxnId="{4A69F85D-5C15-48FD-893A-B3050E1BADEB}">
      <dgm:prSet/>
      <dgm:spPr/>
      <dgm:t>
        <a:bodyPr/>
        <a:lstStyle/>
        <a:p>
          <a:endParaRPr lang="en-US">
            <a:latin typeface="+mn-lt"/>
          </a:endParaRPr>
        </a:p>
      </dgm:t>
    </dgm:pt>
    <dgm:pt modelId="{D8170BBA-6035-4773-8431-FEDD687647FF}" type="sibTrans" cxnId="{4A69F85D-5C15-48FD-893A-B3050E1BADEB}">
      <dgm:prSet/>
      <dgm:spPr/>
      <dgm:t>
        <a:bodyPr/>
        <a:lstStyle/>
        <a:p>
          <a:endParaRPr lang="en-US">
            <a:latin typeface="+mn-lt"/>
          </a:endParaRPr>
        </a:p>
      </dgm:t>
    </dgm:pt>
    <dgm:pt modelId="{FD9CA14A-483C-4869-B0C1-7C5FB7EEDBCC}">
      <dgm:prSet phldrT="[Text]" phldr="0" custT="1"/>
      <dgm:spPr>
        <a:solidFill>
          <a:schemeClr val="accent3">
            <a:alpha val="90000"/>
          </a:schemeClr>
        </a:solidFill>
      </dgm:spPr>
      <dgm:t>
        <a:bodyPr/>
        <a:lstStyle/>
        <a:p>
          <a:pPr algn="ctr"/>
          <a:r>
            <a:rPr lang="en-US" sz="1800" dirty="0">
              <a:solidFill>
                <a:schemeClr val="accent2">
                  <a:lumMod val="25000"/>
                </a:schemeClr>
              </a:solidFill>
              <a:latin typeface="+mn-lt"/>
            </a:rPr>
            <a:t> User testing</a:t>
          </a:r>
        </a:p>
      </dgm:t>
    </dgm:pt>
    <dgm:pt modelId="{8182A92F-45BA-4CD1-8E43-0B0810A50FEB}" type="parTrans" cxnId="{5EDA943F-300F-408A-A52E-3D5140FD5C22}">
      <dgm:prSet/>
      <dgm:spPr/>
      <dgm:t>
        <a:bodyPr/>
        <a:lstStyle/>
        <a:p>
          <a:endParaRPr lang="en-US">
            <a:latin typeface="+mn-lt"/>
          </a:endParaRPr>
        </a:p>
      </dgm:t>
    </dgm:pt>
    <dgm:pt modelId="{914BB93C-EA8A-4B5B-8F06-30DA7C7F4B7B}" type="sibTrans" cxnId="{5EDA943F-300F-408A-A52E-3D5140FD5C22}">
      <dgm:prSet/>
      <dgm:spPr/>
      <dgm:t>
        <a:bodyPr/>
        <a:lstStyle/>
        <a:p>
          <a:endParaRPr lang="en-US">
            <a:latin typeface="+mn-lt"/>
          </a:endParaRPr>
        </a:p>
      </dgm:t>
    </dgm:pt>
    <dgm:pt modelId="{D2FE027B-4161-41E1-B4D4-02AECB2E3FA0}">
      <dgm:prSet phldrT="[Text]" phldr="0"/>
      <dgm:spPr/>
      <dgm:t>
        <a:bodyPr/>
        <a:lstStyle/>
        <a:p>
          <a:pPr>
            <a:defRPr b="1"/>
          </a:pPr>
          <a:r>
            <a:rPr lang="en-US" dirty="0">
              <a:solidFill>
                <a:schemeClr val="accent2">
                  <a:lumMod val="25000"/>
                </a:schemeClr>
              </a:solidFill>
              <a:latin typeface="+mn-lt"/>
            </a:rPr>
            <a:t>Q2</a:t>
          </a:r>
        </a:p>
      </dgm:t>
    </dgm:pt>
    <dgm:pt modelId="{88680CFE-3CE0-4842-B3D3-716D3B671238}" type="parTrans" cxnId="{4F4F82A2-02F1-492B-96C1-46C070BEFCE3}">
      <dgm:prSet/>
      <dgm:spPr/>
      <dgm:t>
        <a:bodyPr/>
        <a:lstStyle/>
        <a:p>
          <a:endParaRPr lang="en-US">
            <a:latin typeface="+mn-lt"/>
          </a:endParaRPr>
        </a:p>
      </dgm:t>
    </dgm:pt>
    <dgm:pt modelId="{4D59E06B-629C-40B5-96D3-423B7A56C945}" type="sibTrans" cxnId="{4F4F82A2-02F1-492B-96C1-46C070BEFCE3}">
      <dgm:prSet/>
      <dgm:spPr/>
      <dgm:t>
        <a:bodyPr/>
        <a:lstStyle/>
        <a:p>
          <a:endParaRPr lang="en-US">
            <a:latin typeface="+mn-lt"/>
          </a:endParaRPr>
        </a:p>
      </dgm:t>
    </dgm:pt>
    <dgm:pt modelId="{2BE415B7-7185-4956-8487-237B40BC0EE5}">
      <dgm:prSet phldrT="[Text]" phldr="0" custT="1"/>
      <dgm:spPr>
        <a:solidFill>
          <a:schemeClr val="accent3">
            <a:alpha val="90000"/>
          </a:schemeClr>
        </a:solidFill>
      </dgm:spPr>
      <dgm:t>
        <a:bodyPr/>
        <a:lstStyle/>
        <a:p>
          <a:pPr algn="ctr"/>
          <a:r>
            <a:rPr lang="en-US" sz="1800" dirty="0">
              <a:solidFill>
                <a:schemeClr val="accent2">
                  <a:lumMod val="25000"/>
                </a:schemeClr>
              </a:solidFill>
              <a:latin typeface="+mn-lt"/>
            </a:rPr>
            <a:t>Product launch</a:t>
          </a:r>
        </a:p>
      </dgm:t>
    </dgm:pt>
    <dgm:pt modelId="{A38E847E-0D1D-4F40-9A71-4D5999ADE08B}" type="parTrans" cxnId="{CB32A309-9CA9-4554-941D-519A91A9E733}">
      <dgm:prSet/>
      <dgm:spPr/>
      <dgm:t>
        <a:bodyPr/>
        <a:lstStyle/>
        <a:p>
          <a:endParaRPr lang="en-US">
            <a:latin typeface="+mn-lt"/>
          </a:endParaRPr>
        </a:p>
      </dgm:t>
    </dgm:pt>
    <dgm:pt modelId="{F0D1C61C-E3F2-49BA-A2D8-C04A81308E5D}" type="sibTrans" cxnId="{CB32A309-9CA9-4554-941D-519A91A9E733}">
      <dgm:prSet/>
      <dgm:spPr/>
      <dgm:t>
        <a:bodyPr/>
        <a:lstStyle/>
        <a:p>
          <a:endParaRPr lang="en-US">
            <a:latin typeface="+mn-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4">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4"/>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4"/>
      <dgm:spPr>
        <a:noFill/>
        <a:ln w="6350" cap="flat" cmpd="sng" algn="ctr">
          <a:solidFill>
            <a:schemeClr val="accent1">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4"/>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4">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4"/>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4"/>
      <dgm:spPr>
        <a:noFill/>
        <a:ln w="6350" cap="flat" cmpd="sng" algn="ctr">
          <a:solidFill>
            <a:schemeClr val="accent1">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4">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4"/>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4"/>
      <dgm:spPr>
        <a:noFill/>
        <a:ln w="6350" cap="flat" cmpd="sng" algn="ctr">
          <a:solidFill>
            <a:schemeClr val="accent1">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4"/>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6350" cap="flat" cmpd="sng" algn="ctr">
          <a:solidFill>
            <a:schemeClr val="accent1">
              <a:hueOff val="0"/>
              <a:satOff val="0"/>
              <a:lumOff val="0"/>
              <a:alphaOff val="0"/>
            </a:schemeClr>
          </a:solidFill>
          <a:prstDash val="dash"/>
          <a:miter lim="800000"/>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64516513-C9B3-4B52-A434-6178ACAB3599}" type="presOf" srcId="{91969DED-4CB8-4A14-A50B-3F7B848E46B5}" destId="{60D0713D-AF69-4AF8-B071-F65622790886}" srcOrd="0" destOrd="0" presId="urn:microsoft.com/office/officeart/2016/7/layout/BasicTimeline"/>
    <dgm:cxn modelId="{3760A536-08D8-4D45-9A8D-A21E58E17F8A}" type="presOf" srcId="{D2FE027B-4161-41E1-B4D4-02AECB2E3FA0}" destId="{F782935D-BBBD-4420-826A-F71C517659B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2D36C892-88AC-490F-8E33-2C73C0E22FF5}" type="presOf" srcId="{2BE415B7-7185-4956-8487-237B40BC0EE5}" destId="{6C3A59BD-6D45-4573-B098-8CB5207F194D}"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F4F82A2-02F1-492B-96C1-46C070BEFCE3}" srcId="{A66480AC-C0DE-4E5E-9ECD-9AE37E3FCB79}" destId="{D2FE027B-4161-41E1-B4D4-02AECB2E3FA0}" srcOrd="3" destOrd="0" parTransId="{88680CFE-3CE0-4842-B3D3-716D3B671238}" sibTransId="{4D59E06B-629C-40B5-96D3-423B7A56C945}"/>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 modelId="{A9042F53-7838-4B89-A14A-DC86E7759451}" type="presParOf" srcId="{BDA8F949-88B8-486D-9E41-ABA1463A8926}" destId="{07073103-04B7-4C74-9AC8-048764100B10}" srcOrd="5" destOrd="0" presId="urn:microsoft.com/office/officeart/2016/7/layout/BasicTimeline"/>
    <dgm:cxn modelId="{5290B18C-985B-476F-80AB-B000D2E28F60}" type="presParOf" srcId="{BDA8F949-88B8-486D-9E41-ABA1463A8926}" destId="{C68762A5-E9DF-484F-B385-6C7E07325E98}" srcOrd="6" destOrd="0" presId="urn:microsoft.com/office/officeart/2016/7/layout/BasicTimeline"/>
    <dgm:cxn modelId="{819C616E-63F8-4599-9A66-512521E8E9F5}" type="presParOf" srcId="{C68762A5-E9DF-484F-B385-6C7E07325E98}" destId="{F782935D-BBBD-4420-826A-F71C517659B6}" srcOrd="0" destOrd="0" presId="urn:microsoft.com/office/officeart/2016/7/layout/BasicTimeline"/>
    <dgm:cxn modelId="{8C54E232-1B89-4DC9-8E05-4736E6F4C528}" type="presParOf" srcId="{C68762A5-E9DF-484F-B385-6C7E07325E98}" destId="{3C71E446-482E-4CAC-8D42-2D4AC020412B}" srcOrd="1" destOrd="0" presId="urn:microsoft.com/office/officeart/2016/7/layout/BasicTimeline"/>
    <dgm:cxn modelId="{BC353777-539A-4864-BB21-346D8C4360C1}" type="presParOf" srcId="{3C71E446-482E-4CAC-8D42-2D4AC020412B}" destId="{6C3A59BD-6D45-4573-B098-8CB5207F194D}" srcOrd="0" destOrd="0" presId="urn:microsoft.com/office/officeart/2016/7/layout/BasicTimeline"/>
    <dgm:cxn modelId="{53E54228-74E4-4F6A-AAD7-71EB44BEEB36}" type="presParOf" srcId="{3C71E446-482E-4CAC-8D42-2D4AC020412B}" destId="{8EB042C8-D666-4667-A1E4-E0C87151B72F}" srcOrd="1" destOrd="0" presId="urn:microsoft.com/office/officeart/2016/7/layout/BasicTimeline"/>
    <dgm:cxn modelId="{CD2E3F26-566B-4E8C-9927-C3B42B77551C}" type="presParOf" srcId="{C68762A5-E9DF-484F-B385-6C7E07325E98}" destId="{086FB9B1-82B2-4197-8B33-6E7FF94F8D2E}" srcOrd="2" destOrd="0" presId="urn:microsoft.com/office/officeart/2016/7/layout/BasicTimeline"/>
    <dgm:cxn modelId="{7571835A-7BAA-40A1-945B-B991B049CBA7}" type="presParOf" srcId="{C68762A5-E9DF-484F-B385-6C7E07325E98}" destId="{3F359E8B-7C7E-4FD9-B106-36CCBFC731D5}" srcOrd="3" destOrd="0" presId="urn:microsoft.com/office/officeart/2016/7/layout/BasicTimeline"/>
    <dgm:cxn modelId="{7083DB71-225A-4FBD-A8B2-9CBA2B2F1649}"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956594"/>
          <a:ext cx="6619875" cy="0"/>
        </a:xfrm>
        <a:prstGeom prst="line">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tailEnd type="triangle" w="lg" len="lg"/>
        </a:ln>
        <a:effectLst/>
      </dsp:spPr>
      <dsp:style>
        <a:lnRef idx="1">
          <a:scrgbClr r="0" g="0" b="0"/>
        </a:lnRef>
        <a:fillRef idx="1">
          <a:scrgbClr r="0" g="0" b="0"/>
        </a:fillRef>
        <a:effectRef idx="2">
          <a:scrgbClr r="0" g="0" b="0"/>
        </a:effectRef>
        <a:fontRef idx="minor"/>
      </dsp:style>
    </dsp:sp>
    <dsp:sp modelId="{FE5C7F33-9326-49FB-89A3-8A20163AD994}">
      <dsp:nvSpPr>
        <dsp:cNvPr id="0" name=""/>
        <dsp:cNvSpPr/>
      </dsp:nvSpPr>
      <dsp:spPr>
        <a:xfrm>
          <a:off x="146846" y="2101381"/>
          <a:ext cx="2124824" cy="442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25000"/>
                </a:schemeClr>
              </a:solidFill>
              <a:latin typeface="+mn-lt"/>
            </a:rPr>
            <a:t>Q3</a:t>
          </a:r>
        </a:p>
      </dsp:txBody>
      <dsp:txXfrm>
        <a:off x="146846" y="2101381"/>
        <a:ext cx="2124824" cy="442190"/>
      </dsp:txXfrm>
    </dsp:sp>
    <dsp:sp modelId="{BA29120C-7C6B-4F62-9079-4AD528BC0744}">
      <dsp:nvSpPr>
        <dsp:cNvPr id="0" name=""/>
        <dsp:cNvSpPr/>
      </dsp:nvSpPr>
      <dsp:spPr>
        <a:xfrm>
          <a:off x="1971" y="545889"/>
          <a:ext cx="2414573" cy="667198"/>
        </a:xfrm>
        <a:prstGeom prst="roundRect">
          <a:avLst/>
        </a:prstGeom>
        <a:solidFill>
          <a:schemeClr val="accent3">
            <a:alpha val="9000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accent2">
                  <a:lumMod val="25000"/>
                </a:schemeClr>
              </a:solidFill>
              <a:latin typeface="+mn-lt"/>
            </a:rPr>
            <a:t>Market research</a:t>
          </a:r>
        </a:p>
      </dsp:txBody>
      <dsp:txXfrm>
        <a:off x="34541" y="578459"/>
        <a:ext cx="2349433" cy="602058"/>
      </dsp:txXfrm>
    </dsp:sp>
    <dsp:sp modelId="{A95DB80B-444A-4D69-B205-3A801BB8524A}">
      <dsp:nvSpPr>
        <dsp:cNvPr id="0" name=""/>
        <dsp:cNvSpPr/>
      </dsp:nvSpPr>
      <dsp:spPr>
        <a:xfrm>
          <a:off x="1209258" y="1213088"/>
          <a:ext cx="0" cy="743505"/>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1547298" y="1369615"/>
          <a:ext cx="2124824" cy="442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25000"/>
                </a:schemeClr>
              </a:solidFill>
              <a:latin typeface="+mn-lt"/>
            </a:rPr>
            <a:t>Q4</a:t>
          </a:r>
        </a:p>
      </dsp:txBody>
      <dsp:txXfrm>
        <a:off x="1547298" y="1369615"/>
        <a:ext cx="2124824" cy="442190"/>
      </dsp:txXfrm>
    </dsp:sp>
    <dsp:sp modelId="{FA19A0AA-8B0B-4AA8-A80D-08CFFDD3F112}">
      <dsp:nvSpPr>
        <dsp:cNvPr id="0" name=""/>
        <dsp:cNvSpPr/>
      </dsp:nvSpPr>
      <dsp:spPr>
        <a:xfrm>
          <a:off x="1179909" y="1927245"/>
          <a:ext cx="58697" cy="58697"/>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DADAA0C9-3E42-4088-8622-30E9F6EA139A}">
      <dsp:nvSpPr>
        <dsp:cNvPr id="0" name=""/>
        <dsp:cNvSpPr/>
      </dsp:nvSpPr>
      <dsp:spPr>
        <a:xfrm>
          <a:off x="1402424" y="2700099"/>
          <a:ext cx="2414573" cy="917398"/>
        </a:xfrm>
        <a:prstGeom prst="roundRect">
          <a:avLst/>
        </a:prstGeom>
        <a:solidFill>
          <a:schemeClr val="accent3">
            <a:alpha val="9000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accent2">
                  <a:lumMod val="25000"/>
                </a:schemeClr>
              </a:solidFill>
              <a:latin typeface="+mn-lt"/>
            </a:rPr>
            <a:t>Product development</a:t>
          </a:r>
        </a:p>
      </dsp:txBody>
      <dsp:txXfrm>
        <a:off x="1447208" y="2744883"/>
        <a:ext cx="2325005" cy="827830"/>
      </dsp:txXfrm>
    </dsp:sp>
    <dsp:sp modelId="{DBD74D6B-057A-432C-9067-BF618C19EB2A}">
      <dsp:nvSpPr>
        <dsp:cNvPr id="0" name=""/>
        <dsp:cNvSpPr/>
      </dsp:nvSpPr>
      <dsp:spPr>
        <a:xfrm>
          <a:off x="2609711" y="1956593"/>
          <a:ext cx="0" cy="743505"/>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2947751" y="2101381"/>
          <a:ext cx="2124824" cy="442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25000"/>
                </a:schemeClr>
              </a:solidFill>
              <a:latin typeface="+mn-lt"/>
            </a:rPr>
            <a:t>Q1</a:t>
          </a:r>
        </a:p>
      </dsp:txBody>
      <dsp:txXfrm>
        <a:off x="2947751" y="2101381"/>
        <a:ext cx="2124824" cy="442190"/>
      </dsp:txXfrm>
    </dsp:sp>
    <dsp:sp modelId="{0F979253-FD39-4920-BFCA-78C564B167EA}">
      <dsp:nvSpPr>
        <dsp:cNvPr id="0" name=""/>
        <dsp:cNvSpPr/>
      </dsp:nvSpPr>
      <dsp:spPr>
        <a:xfrm>
          <a:off x="2580362" y="1927245"/>
          <a:ext cx="58697" cy="58697"/>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E0D48281-565D-47A3-9B6C-576231178549}">
      <dsp:nvSpPr>
        <dsp:cNvPr id="0" name=""/>
        <dsp:cNvSpPr/>
      </dsp:nvSpPr>
      <dsp:spPr>
        <a:xfrm>
          <a:off x="2802877" y="545889"/>
          <a:ext cx="2414573" cy="667198"/>
        </a:xfrm>
        <a:prstGeom prst="roundRect">
          <a:avLst/>
        </a:prstGeom>
        <a:solidFill>
          <a:schemeClr val="accent3">
            <a:alpha val="9000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accent2">
                  <a:lumMod val="25000"/>
                </a:schemeClr>
              </a:solidFill>
              <a:latin typeface="+mn-lt"/>
            </a:rPr>
            <a:t> User testing</a:t>
          </a:r>
        </a:p>
      </dsp:txBody>
      <dsp:txXfrm>
        <a:off x="2835447" y="578459"/>
        <a:ext cx="2349433" cy="602058"/>
      </dsp:txXfrm>
    </dsp:sp>
    <dsp:sp modelId="{DCAE8A46-752C-4E82-84CE-E790E1F2918E}">
      <dsp:nvSpPr>
        <dsp:cNvPr id="0" name=""/>
        <dsp:cNvSpPr/>
      </dsp:nvSpPr>
      <dsp:spPr>
        <a:xfrm>
          <a:off x="4010163" y="1213088"/>
          <a:ext cx="0" cy="743505"/>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4348204" y="1369615"/>
          <a:ext cx="2124824" cy="442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25000"/>
                </a:schemeClr>
              </a:solidFill>
              <a:latin typeface="+mn-lt"/>
            </a:rPr>
            <a:t>Q2</a:t>
          </a:r>
        </a:p>
      </dsp:txBody>
      <dsp:txXfrm>
        <a:off x="4348204" y="1369615"/>
        <a:ext cx="2124824" cy="442190"/>
      </dsp:txXfrm>
    </dsp:sp>
    <dsp:sp modelId="{B6459BF8-D2C3-4018-9C28-98667DC203F4}">
      <dsp:nvSpPr>
        <dsp:cNvPr id="0" name=""/>
        <dsp:cNvSpPr/>
      </dsp:nvSpPr>
      <dsp:spPr>
        <a:xfrm>
          <a:off x="3980814" y="1927245"/>
          <a:ext cx="58697" cy="58697"/>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6C3A59BD-6D45-4573-B098-8CB5207F194D}">
      <dsp:nvSpPr>
        <dsp:cNvPr id="0" name=""/>
        <dsp:cNvSpPr/>
      </dsp:nvSpPr>
      <dsp:spPr>
        <a:xfrm>
          <a:off x="4203329" y="2700099"/>
          <a:ext cx="2414573" cy="667198"/>
        </a:xfrm>
        <a:prstGeom prst="roundRect">
          <a:avLst/>
        </a:prstGeom>
        <a:solidFill>
          <a:schemeClr val="accent3">
            <a:alpha val="9000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accent2">
                  <a:lumMod val="25000"/>
                </a:schemeClr>
              </a:solidFill>
              <a:latin typeface="+mn-lt"/>
            </a:rPr>
            <a:t>Product launch</a:t>
          </a:r>
        </a:p>
      </dsp:txBody>
      <dsp:txXfrm>
        <a:off x="4235899" y="2732669"/>
        <a:ext cx="2349433" cy="602058"/>
      </dsp:txXfrm>
    </dsp:sp>
    <dsp:sp modelId="{086FB9B1-82B2-4197-8B33-6E7FF94F8D2E}">
      <dsp:nvSpPr>
        <dsp:cNvPr id="0" name=""/>
        <dsp:cNvSpPr/>
      </dsp:nvSpPr>
      <dsp:spPr>
        <a:xfrm>
          <a:off x="5410616" y="1956593"/>
          <a:ext cx="0" cy="743505"/>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5381267" y="1927245"/>
          <a:ext cx="58697" cy="58697"/>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243D74-B9C1-450A-B0F3-6C6DCB0CF2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2C27C33-9BB1-41D5-A236-12767E7E72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AB3EA8-A58D-4C92-A3AB-D271CCC294C7}" type="datetimeFigureOut">
              <a:rPr lang="en-US" smtClean="0"/>
              <a:t>7/25/2026</a:t>
            </a:fld>
            <a:endParaRPr lang="en-US" dirty="0"/>
          </a:p>
        </p:txBody>
      </p:sp>
      <p:sp>
        <p:nvSpPr>
          <p:cNvPr id="4" name="Footer Placeholder 3">
            <a:extLst>
              <a:ext uri="{FF2B5EF4-FFF2-40B4-BE49-F238E27FC236}">
                <a16:creationId xmlns:a16="http://schemas.microsoft.com/office/drawing/2014/main" id="{44A7EADB-04A4-4093-B238-438E2C7317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DDD8696-706D-440E-AE04-4C644F0613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2A5DE8-F2C4-4DB3-88D1-656DCD59E73E}" type="slidenum">
              <a:rPr lang="en-US" smtClean="0"/>
              <a:t>‹#›</a:t>
            </a:fld>
            <a:endParaRPr lang="en-US" dirty="0"/>
          </a:p>
        </p:txBody>
      </p:sp>
    </p:spTree>
    <p:extLst>
      <p:ext uri="{BB962C8B-B14F-4D97-AF65-F5344CB8AC3E}">
        <p14:creationId xmlns:p14="http://schemas.microsoft.com/office/powerpoint/2010/main" val="17898243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EFB4FA-E877-413E-B608-88789D806C57}" type="datetimeFigureOut">
              <a:rPr lang="en-US" noProof="0" smtClean="0"/>
              <a:t>7/25/2026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36304E-FDE3-4B4F-A3B7-EBE87F3FA5E2}" type="slidenum">
              <a:rPr lang="en-US" noProof="0" smtClean="0"/>
              <a:t>‹#›</a:t>
            </a:fld>
            <a:endParaRPr lang="en-US" noProof="0" dirty="0"/>
          </a:p>
        </p:txBody>
      </p:sp>
    </p:spTree>
    <p:extLst>
      <p:ext uri="{BB962C8B-B14F-4D97-AF65-F5344CB8AC3E}">
        <p14:creationId xmlns:p14="http://schemas.microsoft.com/office/powerpoint/2010/main" val="4085138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1</a:t>
            </a:fld>
            <a:endParaRPr lang="en-US" dirty="0"/>
          </a:p>
        </p:txBody>
      </p:sp>
    </p:spTree>
    <p:extLst>
      <p:ext uri="{BB962C8B-B14F-4D97-AF65-F5344CB8AC3E}">
        <p14:creationId xmlns:p14="http://schemas.microsoft.com/office/powerpoint/2010/main" val="34421903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D93970-B13A-F96D-A4B1-3A1EE7484106}"/>
              </a:ext>
            </a:extLst>
          </p:cNvPr>
          <p:cNvPicPr>
            <a:picLocks noChangeAspect="1"/>
          </p:cNvPicPr>
          <p:nvPr userDrawn="1"/>
        </p:nvPicPr>
        <p:blipFill>
          <a:blip r:embed="rId2"/>
          <a:srcRect/>
          <a:stretch/>
        </p:blipFill>
        <p:spPr>
          <a:xfrm>
            <a:off x="1" y="0"/>
            <a:ext cx="12202379" cy="6857999"/>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502920"/>
            <a:ext cx="10954512" cy="3246120"/>
          </a:xfrm>
        </p:spPr>
        <p:txBody>
          <a:bodyPr anchor="b">
            <a:noAutofit/>
          </a:bodyPr>
          <a:lstStyle>
            <a:lvl1pPr algn="ctr">
              <a:defRPr sz="6600" b="1" i="0" cap="none"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12648" y="3758183"/>
            <a:ext cx="10954512" cy="1307592"/>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3388496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01">
    <p:bg>
      <p:bgPr>
        <a:gradFill>
          <a:gsLst>
            <a:gs pos="33000">
              <a:schemeClr val="bg2"/>
            </a:gs>
            <a:gs pos="59000">
              <a:schemeClr val="tx2">
                <a:lumMod val="90000"/>
                <a:alpha val="65163"/>
              </a:schemeClr>
            </a:gs>
          </a:gsLst>
          <a:lin ang="7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850392"/>
            <a:ext cx="3913632" cy="4800600"/>
          </a:xfrm>
        </p:spPr>
        <p:txBody>
          <a:bodyPr/>
          <a:lstStyle>
            <a:lvl1pPr>
              <a:defRPr>
                <a:solidFill>
                  <a:schemeClr val="accent2">
                    <a:lumMod val="25000"/>
                  </a:schemeClr>
                </a:solidFill>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5358384" y="1965960"/>
            <a:ext cx="4050792" cy="2953512"/>
          </a:xfrm>
        </p:spPr>
        <p:txBody>
          <a:bodyPr anchor="ctr" anchorCtr="0"/>
          <a:lstStyle>
            <a:lvl1pPr>
              <a:defRPr cap="all" baseline="0">
                <a:solidFill>
                  <a:schemeClr val="accent2">
                    <a:lumMod val="25000"/>
                  </a:schemeClr>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7" name="Rounded Rectangle 4">
            <a:extLst>
              <a:ext uri="{FF2B5EF4-FFF2-40B4-BE49-F238E27FC236}">
                <a16:creationId xmlns:a16="http://schemas.microsoft.com/office/drawing/2014/main" id="{906EB944-76A9-6F98-104E-59CD34F5CF9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7">
            <a:extLst>
              <a:ext uri="{FF2B5EF4-FFF2-40B4-BE49-F238E27FC236}">
                <a16:creationId xmlns:a16="http://schemas.microsoft.com/office/drawing/2014/main" id="{898C8E3F-6992-0D8A-CCA1-3DD2C147AA8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4756"/>
          <a:stretch/>
        </p:blipFill>
        <p:spPr>
          <a:xfrm>
            <a:off x="8853067" y="1"/>
            <a:ext cx="1875091" cy="1605320"/>
          </a:xfrm>
          <a:prstGeom prst="rect">
            <a:avLst/>
          </a:prstGeom>
        </p:spPr>
      </p:pic>
      <p:pic>
        <p:nvPicPr>
          <p:cNvPr id="13" name="Picture 7">
            <a:extLst>
              <a:ext uri="{FF2B5EF4-FFF2-40B4-BE49-F238E27FC236}">
                <a16:creationId xmlns:a16="http://schemas.microsoft.com/office/drawing/2014/main" id="{4417AC45-4CB7-72E8-3723-B1A3D81FB6E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13775" y="5533690"/>
            <a:ext cx="493392" cy="495528"/>
          </a:xfrm>
          <a:prstGeom prst="rect">
            <a:avLst/>
          </a:prstGeom>
        </p:spPr>
      </p:pic>
      <p:pic>
        <p:nvPicPr>
          <p:cNvPr id="15" name="Graphic 14">
            <a:extLst>
              <a:ext uri="{FF2B5EF4-FFF2-40B4-BE49-F238E27FC236}">
                <a16:creationId xmlns:a16="http://schemas.microsoft.com/office/drawing/2014/main" id="{AE5941EF-B160-313A-DA99-73C86EDC4C1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46794"/>
          <a:stretch/>
        </p:blipFill>
        <p:spPr>
          <a:xfrm>
            <a:off x="10316909" y="2723673"/>
            <a:ext cx="1875091" cy="3600981"/>
          </a:xfrm>
          <a:prstGeom prst="rect">
            <a:avLst/>
          </a:prstGeom>
        </p:spPr>
      </p:pic>
      <p:pic>
        <p:nvPicPr>
          <p:cNvPr id="17" name="Graphic 16">
            <a:extLst>
              <a:ext uri="{FF2B5EF4-FFF2-40B4-BE49-F238E27FC236}">
                <a16:creationId xmlns:a16="http://schemas.microsoft.com/office/drawing/2014/main" id="{EEC16221-5852-F1A3-24D1-8EF5E907173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41791"/>
          <a:stretch/>
        </p:blipFill>
        <p:spPr>
          <a:xfrm>
            <a:off x="3497179" y="6324654"/>
            <a:ext cx="910220" cy="541368"/>
          </a:xfrm>
          <a:prstGeom prst="rect">
            <a:avLst/>
          </a:prstGeom>
        </p:spPr>
      </p:pic>
      <p:pic>
        <p:nvPicPr>
          <p:cNvPr id="19" name="Graphic 18">
            <a:extLst>
              <a:ext uri="{FF2B5EF4-FFF2-40B4-BE49-F238E27FC236}">
                <a16:creationId xmlns:a16="http://schemas.microsoft.com/office/drawing/2014/main" id="{5D8B34C3-E35E-0B4E-1F8E-59C449A3C8DD}"/>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31904"/>
          <a:stretch/>
        </p:blipFill>
        <p:spPr>
          <a:xfrm>
            <a:off x="1601212" y="0"/>
            <a:ext cx="1032928" cy="718708"/>
          </a:xfrm>
          <a:prstGeom prst="rect">
            <a:avLst/>
          </a:prstGeom>
        </p:spPr>
      </p:pic>
    </p:spTree>
    <p:extLst>
      <p:ext uri="{BB962C8B-B14F-4D97-AF65-F5344CB8AC3E}">
        <p14:creationId xmlns:p14="http://schemas.microsoft.com/office/powerpoint/2010/main" val="3657855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0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1FEFCE-5DDA-D353-F1BF-36752F5F079A}"/>
              </a:ext>
            </a:extLst>
          </p:cNvPr>
          <p:cNvPicPr>
            <a:picLocks noChangeAspect="1"/>
          </p:cNvPicPr>
          <p:nvPr userDrawn="1"/>
        </p:nvPicPr>
        <p:blipFill>
          <a:blip r:embed="rId2"/>
          <a:srcRect/>
          <a:stretch/>
        </p:blipFill>
        <p:spPr>
          <a:xfrm>
            <a:off x="0" y="2917"/>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877824" y="1325880"/>
            <a:ext cx="10460736" cy="2286000"/>
          </a:xfrm>
        </p:spPr>
        <p:txBody>
          <a:bodyPr anchor="b">
            <a:noAutofit/>
          </a:bodyPr>
          <a:lstStyle>
            <a:lvl1pPr algn="ctr">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877824" y="3749040"/>
            <a:ext cx="10460736" cy="2286000"/>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1502723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02">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7" name="Rounded Rectangle 3">
            <a:extLst>
              <a:ext uri="{FF2B5EF4-FFF2-40B4-BE49-F238E27FC236}">
                <a16:creationId xmlns:a16="http://schemas.microsoft.com/office/drawing/2014/main" id="{B6718ABD-4EA5-E3C5-0225-F6671DCA53AD}"/>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D721A955-CA2D-A65D-6E60-DAAAA4ACFA38}"/>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1050"/>
          <a:stretch/>
        </p:blipFill>
        <p:spPr>
          <a:xfrm>
            <a:off x="0" y="2887579"/>
            <a:ext cx="2432421" cy="3604662"/>
          </a:xfrm>
          <a:prstGeom prst="rect">
            <a:avLst/>
          </a:prstGeom>
        </p:spPr>
      </p:pic>
      <p:pic>
        <p:nvPicPr>
          <p:cNvPr id="9" name="Graphic 8">
            <a:extLst>
              <a:ext uri="{FF2B5EF4-FFF2-40B4-BE49-F238E27FC236}">
                <a16:creationId xmlns:a16="http://schemas.microsoft.com/office/drawing/2014/main" id="{AB70155A-604C-AD00-BE69-4505C75CE01B}"/>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5874" b="-1"/>
          <a:stretch/>
        </p:blipFill>
        <p:spPr>
          <a:xfrm rot="5400000">
            <a:off x="11281284" y="2493882"/>
            <a:ext cx="1032928" cy="887899"/>
          </a:xfrm>
          <a:prstGeom prst="rect">
            <a:avLst/>
          </a:prstGeom>
        </p:spPr>
      </p:pic>
      <p:pic>
        <p:nvPicPr>
          <p:cNvPr id="10" name="Graphic 9">
            <a:extLst>
              <a:ext uri="{FF2B5EF4-FFF2-40B4-BE49-F238E27FC236}">
                <a16:creationId xmlns:a16="http://schemas.microsoft.com/office/drawing/2014/main" id="{F74D1084-EF5E-D016-13E0-1840BDFFD0AE}"/>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b="-880"/>
          <a:stretch/>
        </p:blipFill>
        <p:spPr>
          <a:xfrm>
            <a:off x="9897978" y="5987153"/>
            <a:ext cx="490012" cy="505088"/>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313432"/>
            <a:ext cx="6327648" cy="3218688"/>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889032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0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1B9A11-4222-BB4A-66D3-D37C79AC57C1}"/>
              </a:ext>
            </a:extLst>
          </p:cNvPr>
          <p:cNvPicPr>
            <a:picLocks noChangeAspect="1"/>
          </p:cNvPicPr>
          <p:nvPr userDrawn="1"/>
        </p:nvPicPr>
        <p:blipFill rotWithShape="1">
          <a:blip r:embed="rId2"/>
          <a:srcRect l="-1" r="21" b="21"/>
          <a:stretch/>
        </p:blipFill>
        <p:spPr>
          <a:xfrm>
            <a:off x="-2595" y="1459"/>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4654296" y="27432"/>
            <a:ext cx="7004304" cy="3566160"/>
          </a:xfrm>
        </p:spPr>
        <p:txBody>
          <a:bodyPr anchor="b">
            <a:noAutofit/>
          </a:bodyPr>
          <a:lstStyle>
            <a:lvl1pPr algn="ctr">
              <a:defRPr sz="60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4654295" y="3767328"/>
            <a:ext cx="7004303" cy="1161288"/>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3329623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bg>
      <p:bgPr>
        <a:gradFill>
          <a:gsLst>
            <a:gs pos="33000">
              <a:schemeClr val="bg2"/>
            </a:gs>
            <a:gs pos="59000">
              <a:schemeClr val="tx2">
                <a:lumMod val="90000"/>
                <a:alpha val="65163"/>
              </a:schemeClr>
            </a:gs>
          </a:gsLst>
          <a:lin ang="21594000" scaled="0"/>
        </a:gra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72C86F9-080E-93F7-C7B1-F5BEAD84E36E}"/>
              </a:ext>
            </a:extLst>
          </p:cNvPr>
          <p:cNvSpPr>
            <a:spLocks noGrp="1"/>
          </p:cNvSpPr>
          <p:nvPr>
            <p:ph type="title"/>
          </p:nvPr>
        </p:nvSpPr>
        <p:spPr>
          <a:xfrm>
            <a:off x="1078992" y="365760"/>
            <a:ext cx="105064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097280" y="2432304"/>
            <a:ext cx="3108960" cy="3412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4736592" y="1920240"/>
            <a:ext cx="6620256"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2" name="Rounded Rectangle 11">
            <a:extLst>
              <a:ext uri="{FF2B5EF4-FFF2-40B4-BE49-F238E27FC236}">
                <a16:creationId xmlns:a16="http://schemas.microsoft.com/office/drawing/2014/main" id="{7FF98F94-8801-13BE-8EB4-01921AC196C8}"/>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B7BF5718-9534-FD92-79D7-ECC66603E70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r="62387"/>
          <a:stretch/>
        </p:blipFill>
        <p:spPr>
          <a:xfrm rot="5400000">
            <a:off x="1778676" y="5204330"/>
            <a:ext cx="907513" cy="2465321"/>
          </a:xfrm>
          <a:prstGeom prst="rect">
            <a:avLst/>
          </a:prstGeom>
        </p:spPr>
      </p:pic>
      <p:pic>
        <p:nvPicPr>
          <p:cNvPr id="9" name="Graphic 8">
            <a:extLst>
              <a:ext uri="{FF2B5EF4-FFF2-40B4-BE49-F238E27FC236}">
                <a16:creationId xmlns:a16="http://schemas.microsoft.com/office/drawing/2014/main" id="{4FF40650-9AD0-96F8-F702-185D1729AF8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3558" y="5429608"/>
            <a:ext cx="406214" cy="415066"/>
          </a:xfrm>
          <a:prstGeom prst="rect">
            <a:avLst/>
          </a:prstGeom>
        </p:spPr>
      </p:pic>
      <p:pic>
        <p:nvPicPr>
          <p:cNvPr id="10" name="Graphic 9">
            <a:extLst>
              <a:ext uri="{FF2B5EF4-FFF2-40B4-BE49-F238E27FC236}">
                <a16:creationId xmlns:a16="http://schemas.microsoft.com/office/drawing/2014/main" id="{83AC8518-2F0B-6FC0-0C0E-6CE9D00EAC71}"/>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4860" b="-1"/>
          <a:stretch/>
        </p:blipFill>
        <p:spPr>
          <a:xfrm>
            <a:off x="10214191" y="365126"/>
            <a:ext cx="1032928" cy="1106730"/>
          </a:xfrm>
          <a:prstGeom prst="rect">
            <a:avLst/>
          </a:prstGeom>
        </p:spPr>
      </p:pic>
    </p:spTree>
    <p:extLst>
      <p:ext uri="{BB962C8B-B14F-4D97-AF65-F5344CB8AC3E}">
        <p14:creationId xmlns:p14="http://schemas.microsoft.com/office/powerpoint/2010/main" val="3196360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03">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7B4AF60-AC65-3E7A-4A5D-EBF1A7030D9B}"/>
              </a:ext>
            </a:extLst>
          </p:cNvPr>
          <p:cNvPicPr>
            <a:picLocks noChangeAspect="1"/>
          </p:cNvPicPr>
          <p:nvPr userDrawn="1"/>
        </p:nvPicPr>
        <p:blipFill rotWithShape="1">
          <a:blip r:embed="rId2"/>
          <a:srcRect l="3063" b="3063"/>
          <a:stretch/>
        </p:blipFill>
        <p:spPr>
          <a:xfrm>
            <a:off x="1" y="2917"/>
            <a:ext cx="12197189" cy="6855082"/>
          </a:xfrm>
          <a:prstGeom prst="rect">
            <a:avLst/>
          </a:prstGeom>
        </p:spPr>
      </p:pic>
      <p:sp>
        <p:nvSpPr>
          <p:cNvPr id="12" name="Rounded Rectangle 4">
            <a:extLst>
              <a:ext uri="{FF2B5EF4-FFF2-40B4-BE49-F238E27FC236}">
                <a16:creationId xmlns:a16="http://schemas.microsoft.com/office/drawing/2014/main" id="{95671103-2960-81E2-9A76-0E7FDE6B3E55}"/>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276856"/>
            <a:ext cx="6327648" cy="3090672"/>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701264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02">
    <p:bg>
      <p:bgPr>
        <a:gradFill>
          <a:gsLst>
            <a:gs pos="33000">
              <a:schemeClr val="bg2"/>
            </a:gs>
            <a:gs pos="59000">
              <a:schemeClr val="tx2">
                <a:lumMod val="90000"/>
                <a:alpha val="65163"/>
              </a:schemeClr>
            </a:gs>
          </a:gsLst>
          <a:lin ang="16800000" scaled="0"/>
        </a:gradFill>
        <a:effectLst/>
      </p:bgPr>
    </p:bg>
    <p:spTree>
      <p:nvGrpSpPr>
        <p:cNvPr id="1" name=""/>
        <p:cNvGrpSpPr/>
        <p:nvPr/>
      </p:nvGrpSpPr>
      <p:grpSpPr>
        <a:xfrm>
          <a:off x="0" y="0"/>
          <a:ext cx="0" cy="0"/>
          <a:chOff x="0" y="0"/>
          <a:chExt cx="0" cy="0"/>
        </a:xfrm>
      </p:grpSpPr>
      <p:sp>
        <p:nvSpPr>
          <p:cNvPr id="7" name="Rounded Rectangle 4">
            <a:extLst>
              <a:ext uri="{FF2B5EF4-FFF2-40B4-BE49-F238E27FC236}">
                <a16:creationId xmlns:a16="http://schemas.microsoft.com/office/drawing/2014/main" id="{86060D16-E6F6-EA0E-E58E-526234AB656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0E0958AA-6F1A-C4A2-FB66-1A6F7F8834B5}"/>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6095" b="-1"/>
          <a:stretch/>
        </p:blipFill>
        <p:spPr>
          <a:xfrm>
            <a:off x="569419" y="4426479"/>
            <a:ext cx="1472805" cy="1596616"/>
          </a:xfrm>
          <a:prstGeom prst="rect">
            <a:avLst/>
          </a:prstGeom>
        </p:spPr>
      </p:pic>
      <p:pic>
        <p:nvPicPr>
          <p:cNvPr id="9" name="Graphic 8">
            <a:extLst>
              <a:ext uri="{FF2B5EF4-FFF2-40B4-BE49-F238E27FC236}">
                <a16:creationId xmlns:a16="http://schemas.microsoft.com/office/drawing/2014/main" id="{3DEADFA2-398E-9388-8295-063D31FB38E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6095" b="-1"/>
          <a:stretch/>
        </p:blipFill>
        <p:spPr>
          <a:xfrm rot="3765410" flipV="1">
            <a:off x="1448505" y="4094575"/>
            <a:ext cx="862484" cy="934988"/>
          </a:xfrm>
          <a:prstGeom prst="rect">
            <a:avLst/>
          </a:prstGeom>
        </p:spPr>
      </p:pic>
      <p:pic>
        <p:nvPicPr>
          <p:cNvPr id="10" name="Picture 7">
            <a:extLst>
              <a:ext uri="{FF2B5EF4-FFF2-40B4-BE49-F238E27FC236}">
                <a16:creationId xmlns:a16="http://schemas.microsoft.com/office/drawing/2014/main" id="{D09A7588-8EFD-A0C5-4235-45B7D657ECF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35453"/>
          <a:stretch/>
        </p:blipFill>
        <p:spPr>
          <a:xfrm>
            <a:off x="9469547" y="5719093"/>
            <a:ext cx="1756858" cy="1138907"/>
          </a:xfrm>
          <a:prstGeom prst="rect">
            <a:avLst/>
          </a:prstGeom>
        </p:spPr>
      </p:pic>
      <p:pic>
        <p:nvPicPr>
          <p:cNvPr id="13" name="Graphic 12">
            <a:extLst>
              <a:ext uri="{FF2B5EF4-FFF2-40B4-BE49-F238E27FC236}">
                <a16:creationId xmlns:a16="http://schemas.microsoft.com/office/drawing/2014/main" id="{EF04D7D6-513C-D18A-AF21-D10F0E5D3B82}"/>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1" r="-750"/>
          <a:stretch/>
        </p:blipFill>
        <p:spPr>
          <a:xfrm>
            <a:off x="8844546" y="50582"/>
            <a:ext cx="1307037" cy="1325563"/>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7671816"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499728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bg>
      <p:bgPr>
        <a:solidFill>
          <a:schemeClr val="tx2"/>
        </a:solidFill>
        <a:effectLst/>
      </p:bgPr>
    </p:bg>
    <p:spTree>
      <p:nvGrpSpPr>
        <p:cNvPr id="1" name=""/>
        <p:cNvGrpSpPr/>
        <p:nvPr/>
      </p:nvGrpSpPr>
      <p:grpSpPr>
        <a:xfrm>
          <a:off x="0" y="0"/>
          <a:ext cx="0" cy="0"/>
          <a:chOff x="0" y="0"/>
          <a:chExt cx="0" cy="0"/>
        </a:xfrm>
      </p:grpSpPr>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30CE72F6-1D9D-E61E-F1EE-2861FDF7654A}"/>
              </a:ext>
            </a:extLst>
          </p:cNvPr>
          <p:cNvSpPr>
            <a:spLocks noGrp="1"/>
          </p:cNvSpPr>
          <p:nvPr>
            <p:ph idx="1"/>
          </p:nvPr>
        </p:nvSpPr>
        <p:spPr>
          <a:xfrm>
            <a:off x="1170432" y="2459736"/>
            <a:ext cx="2843784" cy="309067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4233672" y="2523744"/>
            <a:ext cx="6693408" cy="327355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854947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4">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1207008" y="2523744"/>
            <a:ext cx="9720072" cy="325526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18480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03">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7A51A8B-A15C-2A94-1E48-F9615101DF48}"/>
              </a:ext>
            </a:extLst>
          </p:cNvPr>
          <p:cNvPicPr>
            <a:picLocks noChangeAspect="1"/>
          </p:cNvPicPr>
          <p:nvPr userDrawn="1"/>
        </p:nvPicPr>
        <p:blipFill rotWithShape="1">
          <a:blip r:embed="rId2"/>
          <a:srcRect l="8991" t="11245" r="3785" b="1531"/>
          <a:stretch/>
        </p:blipFill>
        <p:spPr>
          <a:xfrm>
            <a:off x="0" y="2917"/>
            <a:ext cx="12197192" cy="6855083"/>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1600200"/>
            <a:ext cx="10991088" cy="3657600"/>
          </a:xfrm>
        </p:spPr>
        <p:txBody>
          <a:bodyPr anchor="ctr">
            <a:noAutofit/>
          </a:bodyPr>
          <a:lstStyle>
            <a:lvl1pPr algn="ctr">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0994920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04">
    <p:bg>
      <p:bgPr>
        <a:gradFill>
          <a:gsLst>
            <a:gs pos="33000">
              <a:schemeClr val="bg2"/>
            </a:gs>
            <a:gs pos="59000">
              <a:schemeClr val="tx2">
                <a:lumMod val="90000"/>
                <a:alpha val="65163"/>
              </a:schemeClr>
            </a:gs>
          </a:gsLst>
          <a:lin ang="13800000" scaled="0"/>
        </a:gradFill>
        <a:effectLst/>
      </p:bgPr>
    </p:bg>
    <p:spTree>
      <p:nvGrpSpPr>
        <p:cNvPr id="1" name=""/>
        <p:cNvGrpSpPr/>
        <p:nvPr/>
      </p:nvGrpSpPr>
      <p:grpSpPr>
        <a:xfrm>
          <a:off x="0" y="0"/>
          <a:ext cx="0" cy="0"/>
          <a:chOff x="0" y="0"/>
          <a:chExt cx="0" cy="0"/>
        </a:xfrm>
      </p:grpSpPr>
      <p:sp>
        <p:nvSpPr>
          <p:cNvPr id="11" name="Rounded Rectangle 4">
            <a:extLst>
              <a:ext uri="{FF2B5EF4-FFF2-40B4-BE49-F238E27FC236}">
                <a16:creationId xmlns:a16="http://schemas.microsoft.com/office/drawing/2014/main" id="{5697808D-10E0-D8A5-5D07-E176EBB8F2BB}"/>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7">
            <a:extLst>
              <a:ext uri="{FF2B5EF4-FFF2-40B4-BE49-F238E27FC236}">
                <a16:creationId xmlns:a16="http://schemas.microsoft.com/office/drawing/2014/main" id="{0234D012-F86E-04CE-78C8-2C5A6613028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004" r="-148"/>
          <a:stretch/>
        </p:blipFill>
        <p:spPr>
          <a:xfrm rot="5400000">
            <a:off x="6378170" y="40082"/>
            <a:ext cx="1579705" cy="1600089"/>
          </a:xfrm>
          <a:prstGeom prst="rect">
            <a:avLst/>
          </a:prstGeom>
        </p:spPr>
      </p:pic>
      <p:pic>
        <p:nvPicPr>
          <p:cNvPr id="15" name="Picture 7">
            <a:extLst>
              <a:ext uri="{FF2B5EF4-FFF2-40B4-BE49-F238E27FC236}">
                <a16:creationId xmlns:a16="http://schemas.microsoft.com/office/drawing/2014/main" id="{0BC42061-F838-920E-632E-10EDE7E55392}"/>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6239" r="25335" b="-1"/>
          <a:stretch/>
        </p:blipFill>
        <p:spPr>
          <a:xfrm rot="16200000">
            <a:off x="6298833" y="-161472"/>
            <a:ext cx="752715" cy="1075657"/>
          </a:xfrm>
          <a:prstGeom prst="rect">
            <a:avLst/>
          </a:prstGeom>
        </p:spPr>
      </p:pic>
      <p:pic>
        <p:nvPicPr>
          <p:cNvPr id="16" name="Graphic 15">
            <a:extLst>
              <a:ext uri="{FF2B5EF4-FFF2-40B4-BE49-F238E27FC236}">
                <a16:creationId xmlns:a16="http://schemas.microsoft.com/office/drawing/2014/main" id="{58BEE67F-530E-E41D-FD19-2615180DC3FB}"/>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15931"/>
          <a:stretch/>
        </p:blipFill>
        <p:spPr>
          <a:xfrm>
            <a:off x="10439102" y="4145165"/>
            <a:ext cx="1780703" cy="2164311"/>
          </a:xfrm>
          <a:prstGeom prst="rect">
            <a:avLst/>
          </a:prstGeom>
        </p:spPr>
      </p:pic>
      <p:pic>
        <p:nvPicPr>
          <p:cNvPr id="17" name="Graphic 16">
            <a:extLst>
              <a:ext uri="{FF2B5EF4-FFF2-40B4-BE49-F238E27FC236}">
                <a16:creationId xmlns:a16="http://schemas.microsoft.com/office/drawing/2014/main" id="{82CFCA46-5F5A-867F-B19C-4F9ED5BA15A2}"/>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r="46794"/>
          <a:stretch/>
        </p:blipFill>
        <p:spPr>
          <a:xfrm rot="10800000">
            <a:off x="-27806" y="2452933"/>
            <a:ext cx="1370742" cy="2632414"/>
          </a:xfrm>
          <a:prstGeom prst="rect">
            <a:avLst/>
          </a:prstGeom>
        </p:spPr>
      </p:pic>
      <p:pic>
        <p:nvPicPr>
          <p:cNvPr id="18" name="Graphic 17">
            <a:extLst>
              <a:ext uri="{FF2B5EF4-FFF2-40B4-BE49-F238E27FC236}">
                <a16:creationId xmlns:a16="http://schemas.microsoft.com/office/drawing/2014/main" id="{11E8F80C-ACB2-552E-4433-1A8A2708F18F}"/>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1" b="-9728"/>
          <a:stretch/>
        </p:blipFill>
        <p:spPr>
          <a:xfrm rot="18286209">
            <a:off x="887827" y="4958926"/>
            <a:ext cx="910220" cy="1020507"/>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8293608" y="2441447"/>
            <a:ext cx="3063240" cy="3575303"/>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3438508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CFCA6-7ECE-9BFB-9389-6DB74C862850}"/>
              </a:ext>
            </a:extLst>
          </p:cNvPr>
          <p:cNvPicPr>
            <a:picLocks noChangeAspect="1"/>
          </p:cNvPicPr>
          <p:nvPr userDrawn="1"/>
        </p:nvPicPr>
        <p:blipFill>
          <a:blip r:embed="rId2"/>
          <a:srcRect l="21" r="21"/>
          <a:stretch/>
        </p:blipFill>
        <p:spPr>
          <a:xfrm>
            <a:off x="-5192" y="-1"/>
            <a:ext cx="12197192" cy="6858001"/>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1133856" y="56450"/>
            <a:ext cx="9912096" cy="2743200"/>
          </a:xfrm>
        </p:spPr>
        <p:txBody>
          <a:bodyPr anchor="b">
            <a:noAutofit/>
          </a:bodyPr>
          <a:lstStyle>
            <a:lvl1pPr algn="l">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3575304" y="3110546"/>
            <a:ext cx="4114800" cy="2743200"/>
          </a:xfrm>
        </p:spPr>
        <p:txBody>
          <a:bodyPr>
            <a:noAutofit/>
          </a:bodyPr>
          <a:lstStyle>
            <a:lvl1pPr marL="0" indent="0" algn="l">
              <a:lnSpc>
                <a:spcPct val="150000"/>
              </a:lnSpc>
              <a:spcBef>
                <a:spcPts val="0"/>
              </a:spcBef>
              <a:buNone/>
              <a:defRPr sz="24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2960835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C4D7FA-B85E-4477-8C62-94955B340F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endParaRPr lang="en-US" noProof="0" dirty="0"/>
          </a:p>
        </p:txBody>
      </p:sp>
      <p:sp>
        <p:nvSpPr>
          <p:cNvPr id="3" name="Text Placeholder 2">
            <a:extLst>
              <a:ext uri="{FF2B5EF4-FFF2-40B4-BE49-F238E27FC236}">
                <a16:creationId xmlns:a16="http://schemas.microsoft.com/office/drawing/2014/main" id="{1F1226BB-3E56-4E7F-8172-7EC03C9F0B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a:extLst>
              <a:ext uri="{FF2B5EF4-FFF2-40B4-BE49-F238E27FC236}">
                <a16:creationId xmlns:a16="http://schemas.microsoft.com/office/drawing/2014/main" id="{D95D08EF-72FB-4F19-9916-65815A9CA99C}"/>
              </a:ext>
            </a:extLst>
          </p:cNvPr>
          <p:cNvSpPr>
            <a:spLocks noGrp="1"/>
          </p:cNvSpPr>
          <p:nvPr>
            <p:ph type="dt" sz="half" idx="2"/>
          </p:nvPr>
        </p:nvSpPr>
        <p:spPr>
          <a:xfrm>
            <a:off x="838200" y="6563001"/>
            <a:ext cx="2743200" cy="228600"/>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noProof="0" dirty="0"/>
              <a:t>8/6/20XX</a:t>
            </a:r>
          </a:p>
        </p:txBody>
      </p:sp>
      <p:sp>
        <p:nvSpPr>
          <p:cNvPr id="5" name="Footer Placeholder 4">
            <a:extLst>
              <a:ext uri="{FF2B5EF4-FFF2-40B4-BE49-F238E27FC236}">
                <a16:creationId xmlns:a16="http://schemas.microsoft.com/office/drawing/2014/main" id="{1365084D-BC85-4A55-BD80-93876AD10108}"/>
              </a:ext>
            </a:extLst>
          </p:cNvPr>
          <p:cNvSpPr>
            <a:spLocks noGrp="1"/>
          </p:cNvSpPr>
          <p:nvPr>
            <p:ph type="ftr" sz="quarter" idx="3"/>
          </p:nvPr>
        </p:nvSpPr>
        <p:spPr>
          <a:xfrm>
            <a:off x="4038600" y="6563001"/>
            <a:ext cx="4114800" cy="22860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45FDEF23-A140-4DD6-A0D0-A86BD4DF3404}"/>
              </a:ext>
            </a:extLst>
          </p:cNvPr>
          <p:cNvSpPr>
            <a:spLocks noGrp="1"/>
          </p:cNvSpPr>
          <p:nvPr>
            <p:ph type="sldNum" sz="quarter" idx="4"/>
          </p:nvPr>
        </p:nvSpPr>
        <p:spPr>
          <a:xfrm>
            <a:off x="9375912" y="6563001"/>
            <a:ext cx="2743200" cy="228600"/>
          </a:xfrm>
          <a:prstGeom prst="rect">
            <a:avLst/>
          </a:prstGeom>
        </p:spPr>
        <p:txBody>
          <a:bodyPr vert="horz" lIns="91440" tIns="45720" rIns="91440" bIns="45720" rtlCol="0" anchor="ctr"/>
          <a:lstStyle>
            <a:lvl1pPr algn="r">
              <a:defRPr sz="1200">
                <a:solidFill>
                  <a:schemeClr val="tx1">
                    <a:tint val="75000"/>
                  </a:schemeClr>
                </a:solidFill>
              </a:defRPr>
            </a:lvl1pPr>
          </a:lstStyle>
          <a:p>
            <a:fld id="{9EC71654-96A5-4280-94F3-931C61A9F92C}" type="slidenum">
              <a:rPr lang="en-US" noProof="0" smtClean="0"/>
              <a:t>‹#›</a:t>
            </a:fld>
            <a:endParaRPr lang="en-US" noProof="0" dirty="0"/>
          </a:p>
        </p:txBody>
      </p:sp>
    </p:spTree>
    <p:extLst>
      <p:ext uri="{BB962C8B-B14F-4D97-AF65-F5344CB8AC3E}">
        <p14:creationId xmlns:p14="http://schemas.microsoft.com/office/powerpoint/2010/main" val="2347082301"/>
      </p:ext>
    </p:extLst>
  </p:cSld>
  <p:clrMap bg1="lt1" tx1="dk1" bg2="lt2" tx2="dk2" accent1="accent1" accent2="accent2" accent3="accent3" accent4="accent4" accent5="accent5" accent6="accent6" hlink="hlink" folHlink="folHlink"/>
  <p:sldLayoutIdLst>
    <p:sldLayoutId id="2147483649"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hf hdr="0" ftr="0" dt="0"/>
  <p:txStyles>
    <p:title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25" userDrawn="1">
          <p15:clr>
            <a:srgbClr val="F26B43"/>
          </p15:clr>
        </p15:guide>
        <p15:guide id="4" pos="734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EF7BD-FE81-4B20-8DC5-0B3EB736F9F8}"/>
              </a:ext>
            </a:extLst>
          </p:cNvPr>
          <p:cNvSpPr>
            <a:spLocks noGrp="1"/>
          </p:cNvSpPr>
          <p:nvPr>
            <p:ph type="ctrTitle"/>
          </p:nvPr>
        </p:nvSpPr>
        <p:spPr>
          <a:xfrm>
            <a:off x="612648" y="502920"/>
            <a:ext cx="10954512" cy="3246120"/>
          </a:xfrm>
        </p:spPr>
        <p:txBody>
          <a:bodyPr anchor="b"/>
          <a:lstStyle/>
          <a:p>
            <a:r>
              <a:rPr lang="en-US" dirty="0"/>
              <a:t>Growth strategies</a:t>
            </a:r>
          </a:p>
        </p:txBody>
      </p:sp>
      <p:sp>
        <p:nvSpPr>
          <p:cNvPr id="3" name="Subtitle 2">
            <a:extLst>
              <a:ext uri="{FF2B5EF4-FFF2-40B4-BE49-F238E27FC236}">
                <a16:creationId xmlns:a16="http://schemas.microsoft.com/office/drawing/2014/main" id="{1AFF0EFE-C50F-44EB-8978-B97795477C9E}"/>
              </a:ext>
            </a:extLst>
          </p:cNvPr>
          <p:cNvSpPr>
            <a:spLocks noGrp="1"/>
          </p:cNvSpPr>
          <p:nvPr>
            <p:ph type="subTitle" idx="1"/>
          </p:nvPr>
        </p:nvSpPr>
        <p:spPr>
          <a:xfrm>
            <a:off x="612648" y="3758183"/>
            <a:ext cx="10954512" cy="1307592"/>
          </a:xfrm>
        </p:spPr>
        <p:txBody>
          <a:bodyPr vert="horz" lIns="91440" tIns="45720" rIns="91440" bIns="45720" rtlCol="0" anchor="t">
            <a:noAutofit/>
          </a:bodyPr>
          <a:lstStyle/>
          <a:p>
            <a:r>
              <a:rPr lang="en-US" dirty="0"/>
              <a:t>Presented by Peyton Davis </a:t>
            </a:r>
          </a:p>
        </p:txBody>
      </p:sp>
    </p:spTree>
    <p:extLst>
      <p:ext uri="{BB962C8B-B14F-4D97-AF65-F5344CB8AC3E}">
        <p14:creationId xmlns:p14="http://schemas.microsoft.com/office/powerpoint/2010/main" val="1282633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7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1078992" y="850392"/>
            <a:ext cx="3913632" cy="4800600"/>
          </a:xfrm>
          <a:noFill/>
        </p:spPr>
        <p:txBody>
          <a:bodyPr anchor="ctr">
            <a:noAutofit/>
          </a:bodyPr>
          <a:lstStyle/>
          <a:p>
            <a:r>
              <a:rPr lang="en-US" dirty="0"/>
              <a:t>Agenda</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5358384" y="1965960"/>
            <a:ext cx="4050792" cy="2953512"/>
          </a:xfrm>
          <a:noFill/>
        </p:spPr>
        <p:txBody>
          <a:bodyPr>
            <a:noAutofit/>
          </a:bodyPr>
          <a:lstStyle/>
          <a:p>
            <a:r>
              <a:rPr lang="en-US" dirty="0"/>
              <a:t>GROWTH STRATEGY</a:t>
            </a:r>
          </a:p>
          <a:p>
            <a:r>
              <a:rPr lang="en-US" dirty="0"/>
              <a:t>MARKET ANALYSIS</a:t>
            </a:r>
          </a:p>
          <a:p>
            <a:r>
              <a:rPr lang="en-US" dirty="0"/>
              <a:t>FINANCIAL OVERVIEW</a:t>
            </a:r>
          </a:p>
          <a:p>
            <a:r>
              <a:rPr lang="en-US" dirty="0"/>
              <a:t>INNOVATIVE SOLUTIONS</a:t>
            </a:r>
          </a:p>
          <a:p>
            <a:r>
              <a:rPr lang="en-US" dirty="0"/>
              <a:t>FUTURE INITIATIVES</a:t>
            </a:r>
          </a:p>
        </p:txBody>
      </p:sp>
      <p:sp>
        <p:nvSpPr>
          <p:cNvPr id="9" name="Slide Number Placeholder 8">
            <a:extLst>
              <a:ext uri="{FF2B5EF4-FFF2-40B4-BE49-F238E27FC236}">
                <a16:creationId xmlns:a16="http://schemas.microsoft.com/office/drawing/2014/main" id="{E6AA7FF5-11CA-8F71-5951-B1099396287A}"/>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2</a:t>
            </a:fld>
            <a:endParaRPr lang="en-US" dirty="0"/>
          </a:p>
        </p:txBody>
      </p:sp>
    </p:spTree>
    <p:extLst>
      <p:ext uri="{BB962C8B-B14F-4D97-AF65-F5344CB8AC3E}">
        <p14:creationId xmlns:p14="http://schemas.microsoft.com/office/powerpoint/2010/main" val="3018507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ctrTitle"/>
          </p:nvPr>
        </p:nvSpPr>
        <p:spPr>
          <a:xfrm>
            <a:off x="877824" y="1325880"/>
            <a:ext cx="10460736" cy="2286000"/>
          </a:xfrm>
          <a:noFill/>
        </p:spPr>
        <p:txBody>
          <a:bodyPr>
            <a:noAutofit/>
          </a:bodyPr>
          <a:lstStyle/>
          <a:p>
            <a:r>
              <a:rPr lang="en-US" dirty="0"/>
              <a:t>Strategies for growth</a:t>
            </a:r>
          </a:p>
        </p:txBody>
      </p:sp>
      <p:sp>
        <p:nvSpPr>
          <p:cNvPr id="3" name="Subtitle 2">
            <a:extLst>
              <a:ext uri="{FF2B5EF4-FFF2-40B4-BE49-F238E27FC236}">
                <a16:creationId xmlns:a16="http://schemas.microsoft.com/office/drawing/2014/main" id="{FEECEBD4-35BF-26BB-D438-DA43EBD5EE89}"/>
              </a:ext>
            </a:extLst>
          </p:cNvPr>
          <p:cNvSpPr>
            <a:spLocks noGrp="1"/>
          </p:cNvSpPr>
          <p:nvPr>
            <p:ph type="subTitle" idx="1"/>
          </p:nvPr>
        </p:nvSpPr>
        <p:spPr>
          <a:xfrm>
            <a:off x="877824" y="3749040"/>
            <a:ext cx="10460736" cy="2286000"/>
          </a:xfrm>
          <a:noFill/>
        </p:spPr>
        <p:txBody>
          <a:bodyPr>
            <a:noAutofit/>
          </a:bodyPr>
          <a:lstStyle/>
          <a:p>
            <a:r>
              <a:rPr lang="en-US" dirty="0"/>
              <a:t>NAVIGATING THE FUTURE</a:t>
            </a:r>
          </a:p>
        </p:txBody>
      </p:sp>
    </p:spTree>
    <p:extLst>
      <p:ext uri="{BB962C8B-B14F-4D97-AF65-F5344CB8AC3E}">
        <p14:creationId xmlns:p14="http://schemas.microsoft.com/office/powerpoint/2010/main" val="118503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1078992" y="365760"/>
            <a:ext cx="10277856" cy="1655064"/>
          </a:xfrm>
          <a:noFill/>
        </p:spPr>
        <p:txBody>
          <a:bodyPr anchor="b">
            <a:noAutofit/>
          </a:bodyPr>
          <a:lstStyle/>
          <a:p>
            <a:r>
              <a:rPr lang="en-US" dirty="0"/>
              <a:t>Current market analysis</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3575304" y="2313432"/>
            <a:ext cx="6327648" cy="3218688"/>
          </a:xfrm>
          <a:noFill/>
        </p:spPr>
        <p:txBody>
          <a:bodyPr>
            <a:noAutofit/>
          </a:bodyPr>
          <a:lstStyle/>
          <a:p>
            <a:r>
              <a:rPr lang="en-US" dirty="0"/>
              <a:t>We have identified important key trends that demand our attention.</a:t>
            </a:r>
          </a:p>
          <a:p>
            <a:r>
              <a:rPr lang="en-US" dirty="0"/>
              <a:t>Data reveals a steady increase in consumer demand for sustainable products, presenting an opportunity for our eco-friendly offerings.</a:t>
            </a:r>
          </a:p>
          <a:p>
            <a:r>
              <a:rPr lang="en-US" dirty="0"/>
              <a:t>Our competitors are now focusing on digital marketing strategies, suggesting a shift in consumer behavior.</a:t>
            </a:r>
          </a:p>
          <a:p>
            <a:r>
              <a:rPr lang="en-US" dirty="0"/>
              <a:t>Understanding these nuanced dynamics positions us to adapt and capitalize on emerging market preferences.</a:t>
            </a:r>
          </a:p>
        </p:txBody>
      </p:sp>
      <p:sp>
        <p:nvSpPr>
          <p:cNvPr id="10" name="Slide Number Placeholder 9">
            <a:extLst>
              <a:ext uri="{FF2B5EF4-FFF2-40B4-BE49-F238E27FC236}">
                <a16:creationId xmlns:a16="http://schemas.microsoft.com/office/drawing/2014/main" id="{FD7B9109-9E17-1A7A-3A9A-0F1C07BF36A3}"/>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4</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4654296" y="27432"/>
            <a:ext cx="7004304" cy="3566160"/>
          </a:xfrm>
          <a:noFill/>
        </p:spPr>
        <p:txBody>
          <a:bodyPr>
            <a:noAutofit/>
          </a:bodyPr>
          <a:lstStyle/>
          <a:p>
            <a:r>
              <a:rPr lang="en-US" dirty="0"/>
              <a:t>Market expansion</a:t>
            </a:r>
          </a:p>
        </p:txBody>
      </p:sp>
      <p:sp>
        <p:nvSpPr>
          <p:cNvPr id="3" name="Subtitle 2">
            <a:extLst>
              <a:ext uri="{FF2B5EF4-FFF2-40B4-BE49-F238E27FC236}">
                <a16:creationId xmlns:a16="http://schemas.microsoft.com/office/drawing/2014/main" id="{72446868-83F0-CEEF-5E60-6D55C93B523F}"/>
              </a:ext>
            </a:extLst>
          </p:cNvPr>
          <p:cNvSpPr>
            <a:spLocks noGrp="1"/>
          </p:cNvSpPr>
          <p:nvPr>
            <p:ph type="subTitle" idx="1"/>
          </p:nvPr>
        </p:nvSpPr>
        <p:spPr>
          <a:xfrm>
            <a:off x="4654295" y="3767328"/>
            <a:ext cx="7004303" cy="1161288"/>
          </a:xfrm>
          <a:noFill/>
        </p:spPr>
        <p:txBody>
          <a:bodyPr>
            <a:noAutofit/>
          </a:bodyPr>
          <a:lstStyle/>
          <a:p>
            <a:r>
              <a:rPr lang="en-US" dirty="0"/>
              <a:t>UNLOCKING NEW HORIZONS</a:t>
            </a:r>
          </a:p>
        </p:txBody>
      </p:sp>
    </p:spTree>
    <p:extLst>
      <p:ext uri="{BB962C8B-B14F-4D97-AF65-F5344CB8AC3E}">
        <p14:creationId xmlns:p14="http://schemas.microsoft.com/office/powerpoint/2010/main" val="1371737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1078992" y="365760"/>
            <a:ext cx="10506456" cy="1655064"/>
          </a:xfrm>
          <a:noFill/>
        </p:spPr>
        <p:txBody>
          <a:bodyPr>
            <a:noAutofit/>
          </a:bodyPr>
          <a:lstStyle/>
          <a:p>
            <a:r>
              <a:rPr lang="en-US" dirty="0"/>
              <a:t>Product launch</a:t>
            </a: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half" idx="1"/>
          </p:nvPr>
        </p:nvSpPr>
        <p:spPr>
          <a:xfrm>
            <a:off x="1097280" y="2432304"/>
            <a:ext cx="3108960" cy="3412370"/>
          </a:xfrm>
          <a:noFill/>
        </p:spPr>
        <p:txBody>
          <a:bodyPr vert="horz" lIns="91440" tIns="45720" rIns="91440" bIns="45720" rtlCol="0" anchor="t">
            <a:normAutofit/>
          </a:bodyPr>
          <a:lstStyle/>
          <a:p>
            <a:r>
              <a:rPr lang="en-US" dirty="0"/>
              <a:t>Currently gearing up for a ground-breaking launch </a:t>
            </a:r>
          </a:p>
          <a:p>
            <a:r>
              <a:rPr lang="en-US" dirty="0"/>
              <a:t>Our new offerings will captivate the market</a:t>
            </a:r>
          </a:p>
          <a:p>
            <a:r>
              <a:rPr lang="en-US" dirty="0"/>
              <a:t>Our marketing campaign will generate anticipation</a:t>
            </a:r>
          </a:p>
        </p:txBody>
      </p:sp>
      <p:graphicFrame>
        <p:nvGraphicFramePr>
          <p:cNvPr id="14" name="Content Placeholder 13" descr="A timeline of the product launch">
            <a:extLst>
              <a:ext uri="{FF2B5EF4-FFF2-40B4-BE49-F238E27FC236}">
                <a16:creationId xmlns:a16="http://schemas.microsoft.com/office/drawing/2014/main" id="{A7FD81E4-2CEB-1301-59FF-81509B86E571}"/>
              </a:ext>
            </a:extLst>
          </p:cNvPr>
          <p:cNvGraphicFramePr>
            <a:graphicFrameLocks noGrp="1"/>
          </p:cNvGraphicFramePr>
          <p:nvPr>
            <p:ph sz="half" idx="2"/>
            <p:extLst>
              <p:ext uri="{D42A27DB-BD31-4B8C-83A1-F6EECF244321}">
                <p14:modId xmlns:p14="http://schemas.microsoft.com/office/powerpoint/2010/main" val="1158148412"/>
              </p:ext>
            </p:extLst>
          </p:nvPr>
        </p:nvGraphicFramePr>
        <p:xfrm>
          <a:off x="4737100" y="1920875"/>
          <a:ext cx="6619875" cy="39131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1" name="Slide Number Placeholder 20">
            <a:extLst>
              <a:ext uri="{FF2B5EF4-FFF2-40B4-BE49-F238E27FC236}">
                <a16:creationId xmlns:a16="http://schemas.microsoft.com/office/drawing/2014/main" id="{E39E6080-E7F0-678F-65B9-B64B99BDF328}"/>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6</a:t>
            </a:fld>
            <a:endParaRPr lang="en-US" dirty="0"/>
          </a:p>
        </p:txBody>
      </p:sp>
    </p:spTree>
    <p:extLst>
      <p:ext uri="{BB962C8B-B14F-4D97-AF65-F5344CB8AC3E}">
        <p14:creationId xmlns:p14="http://schemas.microsoft.com/office/powerpoint/2010/main" val="2737241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1078992" y="365760"/>
            <a:ext cx="10277856" cy="1655064"/>
          </a:xfrm>
          <a:noFill/>
        </p:spPr>
        <p:txBody>
          <a:bodyPr>
            <a:noAutofit/>
          </a:bodyPr>
          <a:lstStyle/>
          <a:p>
            <a:r>
              <a:rPr lang="en-US" dirty="0"/>
              <a:t>Marketing strategies</a:t>
            </a:r>
          </a:p>
        </p:txBody>
      </p:sp>
      <p:sp>
        <p:nvSpPr>
          <p:cNvPr id="3" name="Content Placeholder 2">
            <a:extLst>
              <a:ext uri="{FF2B5EF4-FFF2-40B4-BE49-F238E27FC236}">
                <a16:creationId xmlns:a16="http://schemas.microsoft.com/office/drawing/2014/main" id="{FACE640F-7F5A-BDB7-205D-765FA80B6796}"/>
              </a:ext>
            </a:extLst>
          </p:cNvPr>
          <p:cNvSpPr>
            <a:spLocks noGrp="1"/>
          </p:cNvSpPr>
          <p:nvPr>
            <p:ph idx="1"/>
          </p:nvPr>
        </p:nvSpPr>
        <p:spPr>
          <a:xfrm>
            <a:off x="3575304" y="2276856"/>
            <a:ext cx="6327648" cy="3090672"/>
          </a:xfrm>
          <a:noFill/>
        </p:spPr>
        <p:txBody>
          <a:bodyPr vert="horz" lIns="91440" tIns="45720" rIns="91440" bIns="45720" rtlCol="0" anchor="t">
            <a:normAutofit/>
          </a:bodyPr>
          <a:lstStyle/>
          <a:p>
            <a:r>
              <a:rPr lang="en-US" dirty="0"/>
              <a:t>Implement personalized engagement strategies</a:t>
            </a:r>
          </a:p>
          <a:p>
            <a:r>
              <a:rPr lang="en-US" dirty="0"/>
              <a:t>Tailor campaigns to resonate with specific demographics, fostering a sense of relevance and connection</a:t>
            </a:r>
          </a:p>
          <a:p>
            <a:r>
              <a:rPr lang="en-US" dirty="0"/>
              <a:t>Collaborate with influencers and thought leaders to amplify our brand message</a:t>
            </a:r>
          </a:p>
        </p:txBody>
      </p:sp>
      <p:sp>
        <p:nvSpPr>
          <p:cNvPr id="8" name="Slide Number Placeholder 7">
            <a:extLst>
              <a:ext uri="{FF2B5EF4-FFF2-40B4-BE49-F238E27FC236}">
                <a16:creationId xmlns:a16="http://schemas.microsoft.com/office/drawing/2014/main" id="{093736AF-0027-E734-82A8-010D7129D046}"/>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7</a:t>
            </a:fld>
            <a:endParaRPr lang="en-US" dirty="0"/>
          </a:p>
        </p:txBody>
      </p:sp>
    </p:spTree>
    <p:extLst>
      <p:ext uri="{BB962C8B-B14F-4D97-AF65-F5344CB8AC3E}">
        <p14:creationId xmlns:p14="http://schemas.microsoft.com/office/powerpoint/2010/main" val="729609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6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xfrm>
            <a:off x="1078992" y="365760"/>
            <a:ext cx="10277856" cy="1655064"/>
          </a:xfrm>
          <a:noFill/>
        </p:spPr>
        <p:txBody>
          <a:bodyPr>
            <a:noAutofit/>
          </a:bodyPr>
          <a:lstStyle/>
          <a:p>
            <a:r>
              <a:rPr lang="en-US" dirty="0"/>
              <a:t>Financial overview</a:t>
            </a:r>
          </a:p>
        </p:txBody>
      </p:sp>
      <p:sp>
        <p:nvSpPr>
          <p:cNvPr id="3" name="Content Placeholder 2">
            <a:extLst>
              <a:ext uri="{FF2B5EF4-FFF2-40B4-BE49-F238E27FC236}">
                <a16:creationId xmlns:a16="http://schemas.microsoft.com/office/drawing/2014/main" id="{1BE98EFF-197D-3136-70B9-7BBD30A48931}"/>
              </a:ext>
            </a:extLst>
          </p:cNvPr>
          <p:cNvSpPr>
            <a:spLocks noGrp="1"/>
          </p:cNvSpPr>
          <p:nvPr>
            <p:ph idx="1"/>
          </p:nvPr>
        </p:nvSpPr>
        <p:spPr>
          <a:xfrm>
            <a:off x="3575304" y="2441448"/>
            <a:ext cx="3602736" cy="3575304"/>
          </a:xfrm>
          <a:noFill/>
        </p:spPr>
        <p:txBody>
          <a:bodyPr vert="horz" lIns="91440" tIns="45720" rIns="91440" bIns="45720" rtlCol="0" anchor="t">
            <a:noAutofit/>
          </a:bodyPr>
          <a:lstStyle/>
          <a:p>
            <a:r>
              <a:rPr lang="en-US" dirty="0"/>
              <a:t>Our financial overview reflects a robust and resilient fiscal performance.</a:t>
            </a:r>
          </a:p>
          <a:p>
            <a:r>
              <a:rPr lang="en-US" dirty="0"/>
              <a:t>Key indicators show consistent revenue growth over the past quarter, attributed to strategic cost management and successful marketing.</a:t>
            </a:r>
          </a:p>
        </p:txBody>
      </p:sp>
      <p:sp>
        <p:nvSpPr>
          <p:cNvPr id="4" name="Content Placeholder 3">
            <a:extLst>
              <a:ext uri="{FF2B5EF4-FFF2-40B4-BE49-F238E27FC236}">
                <a16:creationId xmlns:a16="http://schemas.microsoft.com/office/drawing/2014/main" id="{D97126AE-AE4A-97A5-21F5-E5ACF7E0605F}"/>
              </a:ext>
            </a:extLst>
          </p:cNvPr>
          <p:cNvSpPr>
            <a:spLocks noGrp="1"/>
          </p:cNvSpPr>
          <p:nvPr>
            <p:ph idx="13"/>
          </p:nvPr>
        </p:nvSpPr>
        <p:spPr>
          <a:xfrm>
            <a:off x="7671816" y="2441448"/>
            <a:ext cx="3602736" cy="3575304"/>
          </a:xfrm>
          <a:noFill/>
        </p:spPr>
        <p:txBody>
          <a:bodyPr vert="horz" lIns="91440" tIns="45720" rIns="91440" bIns="45720" rtlCol="0" anchor="t">
            <a:normAutofit/>
          </a:bodyPr>
          <a:lstStyle/>
          <a:p>
            <a:r>
              <a:rPr lang="en-US" dirty="0"/>
              <a:t>Operating margins have improved, signaling operational efficiency, while strengthening our reserves.</a:t>
            </a:r>
          </a:p>
          <a:p>
            <a:r>
              <a:rPr lang="en-US" dirty="0"/>
              <a:t>This underscores our commitment to financial stability, positioning us for sustained growth. </a:t>
            </a:r>
          </a:p>
        </p:txBody>
      </p:sp>
      <p:sp>
        <p:nvSpPr>
          <p:cNvPr id="13" name="Slide Number Placeholder 12">
            <a:extLst>
              <a:ext uri="{FF2B5EF4-FFF2-40B4-BE49-F238E27FC236}">
                <a16:creationId xmlns:a16="http://schemas.microsoft.com/office/drawing/2014/main" id="{9F61F934-8535-E086-C153-D48E49B98B6A}"/>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8</a:t>
            </a:fld>
            <a:endParaRPr lang="en-US" dirty="0"/>
          </a:p>
        </p:txBody>
      </p:sp>
    </p:spTree>
    <p:extLst>
      <p:ext uri="{BB962C8B-B14F-4D97-AF65-F5344CB8AC3E}">
        <p14:creationId xmlns:p14="http://schemas.microsoft.com/office/powerpoint/2010/main" val="1210802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1078992" y="365760"/>
            <a:ext cx="10277856" cy="1655064"/>
          </a:xfrm>
          <a:noFill/>
        </p:spPr>
        <p:txBody>
          <a:bodyPr>
            <a:noAutofit/>
          </a:bodyPr>
          <a:lstStyle/>
          <a:p>
            <a:r>
              <a:rPr lang="en-US" dirty="0"/>
              <a:t>Quarterly targets</a:t>
            </a:r>
          </a:p>
        </p:txBody>
      </p:sp>
      <p:sp>
        <p:nvSpPr>
          <p:cNvPr id="8" name="Content Placeholder 7">
            <a:extLst>
              <a:ext uri="{FF2B5EF4-FFF2-40B4-BE49-F238E27FC236}">
                <a16:creationId xmlns:a16="http://schemas.microsoft.com/office/drawing/2014/main" id="{215CE58D-2739-522B-7C3A-6A7C985360C0}"/>
              </a:ext>
            </a:extLst>
          </p:cNvPr>
          <p:cNvSpPr>
            <a:spLocks noGrp="1"/>
          </p:cNvSpPr>
          <p:nvPr>
            <p:ph idx="1"/>
          </p:nvPr>
        </p:nvSpPr>
        <p:spPr>
          <a:xfrm>
            <a:off x="1170432" y="2459736"/>
            <a:ext cx="2843784" cy="3090672"/>
          </a:xfrm>
          <a:noFill/>
        </p:spPr>
        <p:txBody>
          <a:bodyPr vert="horz" lIns="91440" tIns="45720" rIns="91440" bIns="45720" rtlCol="0" anchor="t">
            <a:normAutofit/>
          </a:bodyPr>
          <a:lstStyle/>
          <a:p>
            <a:r>
              <a:rPr lang="en-US" dirty="0"/>
              <a:t>Market expansion</a:t>
            </a:r>
          </a:p>
          <a:p>
            <a:r>
              <a:rPr lang="en-US" dirty="0"/>
              <a:t>Product innovation</a:t>
            </a:r>
          </a:p>
          <a:p>
            <a:r>
              <a:rPr lang="en-US" dirty="0"/>
              <a:t>Customer retention</a:t>
            </a:r>
          </a:p>
          <a:p>
            <a:r>
              <a:rPr lang="en-US" dirty="0"/>
              <a:t>Operational efficiency</a:t>
            </a:r>
          </a:p>
        </p:txBody>
      </p:sp>
      <p:graphicFrame>
        <p:nvGraphicFramePr>
          <p:cNvPr id="3" name="Table Placeholder 2">
            <a:extLst>
              <a:ext uri="{FF2B5EF4-FFF2-40B4-BE49-F238E27FC236}">
                <a16:creationId xmlns:a16="http://schemas.microsoft.com/office/drawing/2014/main" id="{1469BF76-5E71-DF2A-4804-7A26E9D95C80}"/>
              </a:ext>
            </a:extLst>
          </p:cNvPr>
          <p:cNvGraphicFramePr>
            <a:graphicFrameLocks noGrp="1"/>
          </p:cNvGraphicFramePr>
          <p:nvPr>
            <p:ph idx="13"/>
            <p:extLst>
              <p:ext uri="{D42A27DB-BD31-4B8C-83A1-F6EECF244321}">
                <p14:modId xmlns:p14="http://schemas.microsoft.com/office/powerpoint/2010/main" val="944582747"/>
              </p:ext>
            </p:extLst>
          </p:nvPr>
        </p:nvGraphicFramePr>
        <p:xfrm>
          <a:off x="4233863" y="2524125"/>
          <a:ext cx="6692898" cy="3268852"/>
        </p:xfrm>
        <a:graphic>
          <a:graphicData uri="http://schemas.openxmlformats.org/drawingml/2006/table">
            <a:tbl>
              <a:tblPr firstRow="1" bandRow="1">
                <a:tableStyleId>{0E3FDE45-AF77-4B5C-9715-49D594BDF05E}</a:tableStyleId>
              </a:tblPr>
              <a:tblGrid>
                <a:gridCol w="1417592">
                  <a:extLst>
                    <a:ext uri="{9D8B030D-6E8A-4147-A177-3AD203B41FA5}">
                      <a16:colId xmlns:a16="http://schemas.microsoft.com/office/drawing/2014/main" val="30750867"/>
                    </a:ext>
                  </a:extLst>
                </a:gridCol>
                <a:gridCol w="1552381">
                  <a:extLst>
                    <a:ext uri="{9D8B030D-6E8A-4147-A177-3AD203B41FA5}">
                      <a16:colId xmlns:a16="http://schemas.microsoft.com/office/drawing/2014/main" val="1038941322"/>
                    </a:ext>
                  </a:extLst>
                </a:gridCol>
                <a:gridCol w="1877730">
                  <a:extLst>
                    <a:ext uri="{9D8B030D-6E8A-4147-A177-3AD203B41FA5}">
                      <a16:colId xmlns:a16="http://schemas.microsoft.com/office/drawing/2014/main" val="529645500"/>
                    </a:ext>
                  </a:extLst>
                </a:gridCol>
                <a:gridCol w="1845195">
                  <a:extLst>
                    <a:ext uri="{9D8B030D-6E8A-4147-A177-3AD203B41FA5}">
                      <a16:colId xmlns:a16="http://schemas.microsoft.com/office/drawing/2014/main" val="3469610457"/>
                    </a:ext>
                  </a:extLst>
                </a:gridCol>
              </a:tblGrid>
              <a:tr h="699992">
                <a:tc>
                  <a:txBody>
                    <a:bodyPr/>
                    <a:lstStyle/>
                    <a:p>
                      <a:pPr algn="ctr"/>
                      <a:r>
                        <a:rPr lang="en-US" dirty="0">
                          <a:solidFill>
                            <a:schemeClr val="accent2">
                              <a:lumMod val="25000"/>
                            </a:schemeClr>
                          </a:solidFill>
                        </a:rPr>
                        <a:t>Quarter</a:t>
                      </a:r>
                    </a:p>
                  </a:txBody>
                  <a:tcPr anchor="ctr"/>
                </a:tc>
                <a:tc>
                  <a:txBody>
                    <a:bodyPr/>
                    <a:lstStyle/>
                    <a:p>
                      <a:pPr algn="ctr"/>
                      <a:r>
                        <a:rPr lang="en-US" dirty="0">
                          <a:solidFill>
                            <a:schemeClr val="accent2">
                              <a:lumMod val="25000"/>
                            </a:schemeClr>
                          </a:solidFill>
                        </a:rPr>
                        <a:t>Revenue growth (%)</a:t>
                      </a:r>
                    </a:p>
                  </a:txBody>
                  <a:tcPr anchor="ctr"/>
                </a:tc>
                <a:tc>
                  <a:txBody>
                    <a:bodyPr/>
                    <a:lstStyle/>
                    <a:p>
                      <a:pPr algn="ctr"/>
                      <a:r>
                        <a:rPr lang="en-US" dirty="0">
                          <a:solidFill>
                            <a:schemeClr val="accent2">
                              <a:lumMod val="25000"/>
                            </a:schemeClr>
                          </a:solidFill>
                        </a:rPr>
                        <a:t>Market share increase (%)</a:t>
                      </a:r>
                    </a:p>
                  </a:txBody>
                  <a:tcPr anchor="ctr"/>
                </a:tc>
                <a:tc>
                  <a:txBody>
                    <a:bodyPr/>
                    <a:lstStyle/>
                    <a:p>
                      <a:pPr algn="ctr"/>
                      <a:r>
                        <a:rPr lang="en-US" dirty="0">
                          <a:solidFill>
                            <a:schemeClr val="accent2">
                              <a:lumMod val="25000"/>
                            </a:schemeClr>
                          </a:solidFill>
                        </a:rPr>
                        <a:t>Customer acquisition</a:t>
                      </a:r>
                    </a:p>
                  </a:txBody>
                  <a:tcPr anchor="ctr"/>
                </a:tc>
                <a:extLst>
                  <a:ext uri="{0D108BD9-81ED-4DB2-BD59-A6C34878D82A}">
                    <a16:rowId xmlns:a16="http://schemas.microsoft.com/office/drawing/2014/main" val="4251432886"/>
                  </a:ext>
                </a:extLst>
              </a:tr>
              <a:tr h="642215">
                <a:tc>
                  <a:txBody>
                    <a:bodyPr/>
                    <a:lstStyle/>
                    <a:p>
                      <a:pPr algn="ctr"/>
                      <a:r>
                        <a:rPr lang="en-US" dirty="0">
                          <a:solidFill>
                            <a:schemeClr val="accent2">
                              <a:lumMod val="25000"/>
                            </a:schemeClr>
                          </a:solidFill>
                        </a:rPr>
                        <a:t>Q1</a:t>
                      </a:r>
                    </a:p>
                  </a:txBody>
                  <a:tcPr anchor="ctr"/>
                </a:tc>
                <a:tc>
                  <a:txBody>
                    <a:bodyPr/>
                    <a:lstStyle/>
                    <a:p>
                      <a:pPr algn="ctr"/>
                      <a:r>
                        <a:rPr lang="en-US" dirty="0">
                          <a:solidFill>
                            <a:schemeClr val="accent2">
                              <a:lumMod val="25000"/>
                            </a:schemeClr>
                          </a:solidFill>
                        </a:rPr>
                        <a:t>12</a:t>
                      </a:r>
                    </a:p>
                  </a:txBody>
                  <a:tcPr anchor="ctr"/>
                </a:tc>
                <a:tc>
                  <a:txBody>
                    <a:bodyPr/>
                    <a:lstStyle/>
                    <a:p>
                      <a:pPr algn="ctr"/>
                      <a:r>
                        <a:rPr lang="en-US" dirty="0">
                          <a:solidFill>
                            <a:schemeClr val="accent2">
                              <a:lumMod val="25000"/>
                            </a:schemeClr>
                          </a:solidFill>
                        </a:rPr>
                        <a:t>2</a:t>
                      </a:r>
                    </a:p>
                  </a:txBody>
                  <a:tcPr anchor="ctr"/>
                </a:tc>
                <a:tc>
                  <a:txBody>
                    <a:bodyPr/>
                    <a:lstStyle/>
                    <a:p>
                      <a:pPr algn="ctr"/>
                      <a:r>
                        <a:rPr lang="en-US" dirty="0">
                          <a:solidFill>
                            <a:schemeClr val="accent2">
                              <a:lumMod val="25000"/>
                            </a:schemeClr>
                          </a:solidFill>
                        </a:rPr>
                        <a:t>500</a:t>
                      </a:r>
                    </a:p>
                  </a:txBody>
                  <a:tcPr anchor="ctr"/>
                </a:tc>
                <a:extLst>
                  <a:ext uri="{0D108BD9-81ED-4DB2-BD59-A6C34878D82A}">
                    <a16:rowId xmlns:a16="http://schemas.microsoft.com/office/drawing/2014/main" val="360240625"/>
                  </a:ext>
                </a:extLst>
              </a:tr>
              <a:tr h="642215">
                <a:tc>
                  <a:txBody>
                    <a:bodyPr/>
                    <a:lstStyle/>
                    <a:p>
                      <a:pPr algn="ctr"/>
                      <a:r>
                        <a:rPr lang="en-US" dirty="0">
                          <a:solidFill>
                            <a:schemeClr val="accent2">
                              <a:lumMod val="25000"/>
                            </a:schemeClr>
                          </a:solidFill>
                        </a:rPr>
                        <a:t>Q2</a:t>
                      </a:r>
                    </a:p>
                  </a:txBody>
                  <a:tcPr anchor="ctr"/>
                </a:tc>
                <a:tc>
                  <a:txBody>
                    <a:bodyPr/>
                    <a:lstStyle/>
                    <a:p>
                      <a:pPr algn="ctr"/>
                      <a:r>
                        <a:rPr lang="en-US" dirty="0">
                          <a:solidFill>
                            <a:schemeClr val="accent2">
                              <a:lumMod val="25000"/>
                            </a:schemeClr>
                          </a:solidFill>
                        </a:rPr>
                        <a:t>15</a:t>
                      </a:r>
                    </a:p>
                  </a:txBody>
                  <a:tcPr anchor="ctr"/>
                </a:tc>
                <a:tc>
                  <a:txBody>
                    <a:bodyPr/>
                    <a:lstStyle/>
                    <a:p>
                      <a:pPr algn="ctr"/>
                      <a:r>
                        <a:rPr lang="en-US" dirty="0">
                          <a:solidFill>
                            <a:schemeClr val="accent2">
                              <a:lumMod val="25000"/>
                            </a:schemeClr>
                          </a:solidFill>
                        </a:rPr>
                        <a:t>3</a:t>
                      </a:r>
                    </a:p>
                  </a:txBody>
                  <a:tcPr anchor="ctr"/>
                </a:tc>
                <a:tc>
                  <a:txBody>
                    <a:bodyPr/>
                    <a:lstStyle/>
                    <a:p>
                      <a:pPr algn="ctr"/>
                      <a:r>
                        <a:rPr lang="en-US" dirty="0">
                          <a:solidFill>
                            <a:schemeClr val="accent2">
                              <a:lumMod val="25000"/>
                            </a:schemeClr>
                          </a:solidFill>
                        </a:rPr>
                        <a:t>600</a:t>
                      </a:r>
                    </a:p>
                  </a:txBody>
                  <a:tcPr anchor="ctr"/>
                </a:tc>
                <a:extLst>
                  <a:ext uri="{0D108BD9-81ED-4DB2-BD59-A6C34878D82A}">
                    <a16:rowId xmlns:a16="http://schemas.microsoft.com/office/drawing/2014/main" val="2762393470"/>
                  </a:ext>
                </a:extLst>
              </a:tr>
              <a:tr h="642215">
                <a:tc>
                  <a:txBody>
                    <a:bodyPr/>
                    <a:lstStyle/>
                    <a:p>
                      <a:pPr algn="ctr"/>
                      <a:r>
                        <a:rPr lang="en-US" dirty="0">
                          <a:solidFill>
                            <a:schemeClr val="accent2">
                              <a:lumMod val="25000"/>
                            </a:schemeClr>
                          </a:solidFill>
                        </a:rPr>
                        <a:t>Q3</a:t>
                      </a:r>
                    </a:p>
                  </a:txBody>
                  <a:tcPr anchor="ctr"/>
                </a:tc>
                <a:tc>
                  <a:txBody>
                    <a:bodyPr/>
                    <a:lstStyle/>
                    <a:p>
                      <a:pPr algn="ctr"/>
                      <a:r>
                        <a:rPr lang="en-US" dirty="0">
                          <a:solidFill>
                            <a:schemeClr val="accent2">
                              <a:lumMod val="25000"/>
                            </a:schemeClr>
                          </a:solidFill>
                        </a:rPr>
                        <a:t>18</a:t>
                      </a:r>
                    </a:p>
                  </a:txBody>
                  <a:tcPr anchor="ctr"/>
                </a:tc>
                <a:tc>
                  <a:txBody>
                    <a:bodyPr/>
                    <a:lstStyle/>
                    <a:p>
                      <a:pPr algn="ctr"/>
                      <a:r>
                        <a:rPr lang="en-US" dirty="0">
                          <a:solidFill>
                            <a:schemeClr val="accent2">
                              <a:lumMod val="25000"/>
                            </a:schemeClr>
                          </a:solidFill>
                        </a:rPr>
                        <a:t>4</a:t>
                      </a:r>
                    </a:p>
                  </a:txBody>
                  <a:tcPr anchor="ctr"/>
                </a:tc>
                <a:tc>
                  <a:txBody>
                    <a:bodyPr/>
                    <a:lstStyle/>
                    <a:p>
                      <a:pPr algn="ctr"/>
                      <a:r>
                        <a:rPr lang="en-US" dirty="0">
                          <a:solidFill>
                            <a:schemeClr val="accent2">
                              <a:lumMod val="25000"/>
                            </a:schemeClr>
                          </a:solidFill>
                        </a:rPr>
                        <a:t>700</a:t>
                      </a:r>
                    </a:p>
                  </a:txBody>
                  <a:tcPr anchor="ctr"/>
                </a:tc>
                <a:extLst>
                  <a:ext uri="{0D108BD9-81ED-4DB2-BD59-A6C34878D82A}">
                    <a16:rowId xmlns:a16="http://schemas.microsoft.com/office/drawing/2014/main" val="1311364400"/>
                  </a:ext>
                </a:extLst>
              </a:tr>
              <a:tr h="642215">
                <a:tc>
                  <a:txBody>
                    <a:bodyPr/>
                    <a:lstStyle/>
                    <a:p>
                      <a:pPr algn="ctr"/>
                      <a:r>
                        <a:rPr lang="en-US" dirty="0">
                          <a:solidFill>
                            <a:schemeClr val="accent2">
                              <a:lumMod val="25000"/>
                            </a:schemeClr>
                          </a:solidFill>
                        </a:rPr>
                        <a:t>Q4</a:t>
                      </a:r>
                    </a:p>
                  </a:txBody>
                  <a:tcPr anchor="ctr"/>
                </a:tc>
                <a:tc>
                  <a:txBody>
                    <a:bodyPr/>
                    <a:lstStyle/>
                    <a:p>
                      <a:pPr algn="ctr"/>
                      <a:r>
                        <a:rPr lang="en-US" dirty="0">
                          <a:solidFill>
                            <a:schemeClr val="accent2">
                              <a:lumMod val="25000"/>
                            </a:schemeClr>
                          </a:solidFill>
                        </a:rPr>
                        <a:t>20</a:t>
                      </a:r>
                    </a:p>
                  </a:txBody>
                  <a:tcPr anchor="ctr"/>
                </a:tc>
                <a:tc>
                  <a:txBody>
                    <a:bodyPr/>
                    <a:lstStyle/>
                    <a:p>
                      <a:pPr algn="ctr"/>
                      <a:r>
                        <a:rPr lang="en-US" dirty="0">
                          <a:solidFill>
                            <a:schemeClr val="accent2">
                              <a:lumMod val="25000"/>
                            </a:schemeClr>
                          </a:solidFill>
                        </a:rPr>
                        <a:t>5</a:t>
                      </a:r>
                    </a:p>
                  </a:txBody>
                  <a:tcPr anchor="ctr"/>
                </a:tc>
                <a:tc>
                  <a:txBody>
                    <a:bodyPr/>
                    <a:lstStyle/>
                    <a:p>
                      <a:pPr algn="ctr"/>
                      <a:r>
                        <a:rPr lang="en-US" dirty="0">
                          <a:solidFill>
                            <a:schemeClr val="accent2">
                              <a:lumMod val="25000"/>
                            </a:schemeClr>
                          </a:solidFill>
                        </a:rPr>
                        <a:t>800</a:t>
                      </a:r>
                    </a:p>
                  </a:txBody>
                  <a:tcPr anchor="ctr"/>
                </a:tc>
                <a:extLst>
                  <a:ext uri="{0D108BD9-81ED-4DB2-BD59-A6C34878D82A}">
                    <a16:rowId xmlns:a16="http://schemas.microsoft.com/office/drawing/2014/main" val="2526263980"/>
                  </a:ext>
                </a:extLst>
              </a:tr>
            </a:tbl>
          </a:graphicData>
        </a:graphic>
      </p:graphicFrame>
      <p:sp>
        <p:nvSpPr>
          <p:cNvPr id="9" name="Slide Number Placeholder 8">
            <a:extLst>
              <a:ext uri="{FF2B5EF4-FFF2-40B4-BE49-F238E27FC236}">
                <a16:creationId xmlns:a16="http://schemas.microsoft.com/office/drawing/2014/main" id="{DAF3F922-669F-7D93-0C1C-D5B16E3975BF}"/>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9</a:t>
            </a:fld>
            <a:endParaRPr lang="en-US" dirty="0"/>
          </a:p>
        </p:txBody>
      </p:sp>
    </p:spTree>
    <p:extLst>
      <p:ext uri="{BB962C8B-B14F-4D97-AF65-F5344CB8AC3E}">
        <p14:creationId xmlns:p14="http://schemas.microsoft.com/office/powerpoint/2010/main" val="4259977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C59F6-9B22-C211-4B4C-A2FD4B914C46}"/>
              </a:ext>
            </a:extLst>
          </p:cNvPr>
          <p:cNvSpPr>
            <a:spLocks noGrp="1"/>
          </p:cNvSpPr>
          <p:nvPr>
            <p:ph type="title"/>
          </p:nvPr>
        </p:nvSpPr>
        <p:spPr>
          <a:xfrm>
            <a:off x="1078992" y="365760"/>
            <a:ext cx="10277856" cy="1655064"/>
          </a:xfrm>
          <a:noFill/>
        </p:spPr>
        <p:txBody>
          <a:bodyPr>
            <a:noAutofit/>
          </a:bodyPr>
          <a:lstStyle/>
          <a:p>
            <a:r>
              <a:rPr lang="en-US" dirty="0"/>
              <a:t>Financial snapshot</a:t>
            </a:r>
          </a:p>
        </p:txBody>
      </p:sp>
      <p:graphicFrame>
        <p:nvGraphicFramePr>
          <p:cNvPr id="4" name="Table Placeholder 3">
            <a:extLst>
              <a:ext uri="{FF2B5EF4-FFF2-40B4-BE49-F238E27FC236}">
                <a16:creationId xmlns:a16="http://schemas.microsoft.com/office/drawing/2014/main" id="{6CB67956-A6C3-FCDF-EC78-F79D90449E96}"/>
              </a:ext>
            </a:extLst>
          </p:cNvPr>
          <p:cNvGraphicFramePr>
            <a:graphicFrameLocks noGrp="1"/>
          </p:cNvGraphicFramePr>
          <p:nvPr>
            <p:ph idx="13"/>
            <p:extLst>
              <p:ext uri="{D42A27DB-BD31-4B8C-83A1-F6EECF244321}">
                <p14:modId xmlns:p14="http://schemas.microsoft.com/office/powerpoint/2010/main" val="384163416"/>
              </p:ext>
            </p:extLst>
          </p:nvPr>
        </p:nvGraphicFramePr>
        <p:xfrm>
          <a:off x="1206500" y="2524125"/>
          <a:ext cx="9720260" cy="3256548"/>
        </p:xfrm>
        <a:graphic>
          <a:graphicData uri="http://schemas.openxmlformats.org/drawingml/2006/table">
            <a:tbl>
              <a:tblPr firstRow="1" bandRow="1">
                <a:tableStyleId>{0E3FDE45-AF77-4B5C-9715-49D594BDF05E}</a:tableStyleId>
              </a:tblPr>
              <a:tblGrid>
                <a:gridCol w="2430065">
                  <a:extLst>
                    <a:ext uri="{9D8B030D-6E8A-4147-A177-3AD203B41FA5}">
                      <a16:colId xmlns:a16="http://schemas.microsoft.com/office/drawing/2014/main" val="130956065"/>
                    </a:ext>
                  </a:extLst>
                </a:gridCol>
                <a:gridCol w="2430065">
                  <a:extLst>
                    <a:ext uri="{9D8B030D-6E8A-4147-A177-3AD203B41FA5}">
                      <a16:colId xmlns:a16="http://schemas.microsoft.com/office/drawing/2014/main" val="2749965458"/>
                    </a:ext>
                  </a:extLst>
                </a:gridCol>
                <a:gridCol w="2430065">
                  <a:extLst>
                    <a:ext uri="{9D8B030D-6E8A-4147-A177-3AD203B41FA5}">
                      <a16:colId xmlns:a16="http://schemas.microsoft.com/office/drawing/2014/main" val="2116711163"/>
                    </a:ext>
                  </a:extLst>
                </a:gridCol>
                <a:gridCol w="2430065">
                  <a:extLst>
                    <a:ext uri="{9D8B030D-6E8A-4147-A177-3AD203B41FA5}">
                      <a16:colId xmlns:a16="http://schemas.microsoft.com/office/drawing/2014/main" val="1186885001"/>
                    </a:ext>
                  </a:extLst>
                </a:gridCol>
              </a:tblGrid>
              <a:tr h="542758">
                <a:tc>
                  <a:txBody>
                    <a:bodyPr/>
                    <a:lstStyle/>
                    <a:p>
                      <a:pPr algn="ctr"/>
                      <a:r>
                        <a:rPr lang="en-US" dirty="0">
                          <a:solidFill>
                            <a:schemeClr val="accent2">
                              <a:lumMod val="25000"/>
                            </a:schemeClr>
                          </a:solidFill>
                        </a:rPr>
                        <a:t>Metric</a:t>
                      </a:r>
                    </a:p>
                  </a:txBody>
                  <a:tcPr anchor="ctr"/>
                </a:tc>
                <a:tc>
                  <a:txBody>
                    <a:bodyPr/>
                    <a:lstStyle/>
                    <a:p>
                      <a:pPr algn="ctr"/>
                      <a:r>
                        <a:rPr lang="en-US" dirty="0">
                          <a:solidFill>
                            <a:schemeClr val="accent2">
                              <a:lumMod val="25000"/>
                            </a:schemeClr>
                          </a:solidFill>
                        </a:rPr>
                        <a:t>Current value</a:t>
                      </a:r>
                    </a:p>
                  </a:txBody>
                  <a:tcPr anchor="ctr"/>
                </a:tc>
                <a:tc>
                  <a:txBody>
                    <a:bodyPr/>
                    <a:lstStyle/>
                    <a:p>
                      <a:pPr algn="ctr"/>
                      <a:r>
                        <a:rPr lang="en-US" dirty="0">
                          <a:solidFill>
                            <a:schemeClr val="accent2">
                              <a:lumMod val="25000"/>
                            </a:schemeClr>
                          </a:solidFill>
                        </a:rPr>
                        <a:t>Previous quarter</a:t>
                      </a:r>
                    </a:p>
                  </a:txBody>
                  <a:tcPr anchor="ctr"/>
                </a:tc>
                <a:tc>
                  <a:txBody>
                    <a:bodyPr/>
                    <a:lstStyle/>
                    <a:p>
                      <a:pPr algn="ctr"/>
                      <a:r>
                        <a:rPr lang="en-US" dirty="0">
                          <a:solidFill>
                            <a:schemeClr val="accent2">
                              <a:lumMod val="25000"/>
                            </a:schemeClr>
                          </a:solidFill>
                        </a:rPr>
                        <a:t>Change (%)</a:t>
                      </a:r>
                    </a:p>
                  </a:txBody>
                  <a:tcPr anchor="ctr"/>
                </a:tc>
                <a:extLst>
                  <a:ext uri="{0D108BD9-81ED-4DB2-BD59-A6C34878D82A}">
                    <a16:rowId xmlns:a16="http://schemas.microsoft.com/office/drawing/2014/main" val="3741017008"/>
                  </a:ext>
                </a:extLst>
              </a:tr>
              <a:tr h="542758">
                <a:tc>
                  <a:txBody>
                    <a:bodyPr/>
                    <a:lstStyle/>
                    <a:p>
                      <a:pPr algn="ctr"/>
                      <a:r>
                        <a:rPr lang="en-US" dirty="0">
                          <a:solidFill>
                            <a:schemeClr val="accent2">
                              <a:lumMod val="25000"/>
                            </a:schemeClr>
                          </a:solidFill>
                        </a:rPr>
                        <a:t>Revenue</a:t>
                      </a:r>
                    </a:p>
                  </a:txBody>
                  <a:tcPr anchor="ctr"/>
                </a:tc>
                <a:tc>
                  <a:txBody>
                    <a:bodyPr/>
                    <a:lstStyle/>
                    <a:p>
                      <a:pPr algn="ctr"/>
                      <a:r>
                        <a:rPr lang="en-US" dirty="0">
                          <a:solidFill>
                            <a:schemeClr val="accent2">
                              <a:lumMod val="25000"/>
                            </a:schemeClr>
                          </a:solidFill>
                        </a:rPr>
                        <a:t>$2,500,000</a:t>
                      </a:r>
                    </a:p>
                  </a:txBody>
                  <a:tcPr anchor="ctr"/>
                </a:tc>
                <a:tc>
                  <a:txBody>
                    <a:bodyPr/>
                    <a:lstStyle/>
                    <a:p>
                      <a:pPr algn="ctr"/>
                      <a:r>
                        <a:rPr lang="en-US" dirty="0">
                          <a:solidFill>
                            <a:schemeClr val="accent2">
                              <a:lumMod val="25000"/>
                            </a:schemeClr>
                          </a:solidFill>
                        </a:rPr>
                        <a:t>$2,200,000</a:t>
                      </a:r>
                    </a:p>
                  </a:txBody>
                  <a:tcPr anchor="ctr"/>
                </a:tc>
                <a:tc>
                  <a:txBody>
                    <a:bodyPr/>
                    <a:lstStyle/>
                    <a:p>
                      <a:pPr algn="ctr"/>
                      <a:r>
                        <a:rPr lang="en-US" dirty="0">
                          <a:solidFill>
                            <a:schemeClr val="accent2">
                              <a:lumMod val="25000"/>
                            </a:schemeClr>
                          </a:solidFill>
                        </a:rPr>
                        <a:t>+14%</a:t>
                      </a:r>
                    </a:p>
                  </a:txBody>
                  <a:tcPr anchor="ctr"/>
                </a:tc>
                <a:extLst>
                  <a:ext uri="{0D108BD9-81ED-4DB2-BD59-A6C34878D82A}">
                    <a16:rowId xmlns:a16="http://schemas.microsoft.com/office/drawing/2014/main" val="511888340"/>
                  </a:ext>
                </a:extLst>
              </a:tr>
              <a:tr h="542758">
                <a:tc>
                  <a:txBody>
                    <a:bodyPr/>
                    <a:lstStyle/>
                    <a:p>
                      <a:pPr algn="ctr"/>
                      <a:r>
                        <a:rPr lang="en-US" dirty="0">
                          <a:solidFill>
                            <a:schemeClr val="accent2">
                              <a:lumMod val="25000"/>
                            </a:schemeClr>
                          </a:solidFill>
                        </a:rPr>
                        <a:t>Operating expenses</a:t>
                      </a:r>
                    </a:p>
                  </a:txBody>
                  <a:tcPr anchor="ctr"/>
                </a:tc>
                <a:tc>
                  <a:txBody>
                    <a:bodyPr/>
                    <a:lstStyle/>
                    <a:p>
                      <a:pPr algn="ctr"/>
                      <a:r>
                        <a:rPr lang="en-US" dirty="0">
                          <a:solidFill>
                            <a:schemeClr val="accent2">
                              <a:lumMod val="25000"/>
                            </a:schemeClr>
                          </a:solidFill>
                        </a:rPr>
                        <a:t>$1,200,000</a:t>
                      </a:r>
                    </a:p>
                  </a:txBody>
                  <a:tcPr anchor="ctr"/>
                </a:tc>
                <a:tc>
                  <a:txBody>
                    <a:bodyPr/>
                    <a:lstStyle/>
                    <a:p>
                      <a:pPr algn="ctr"/>
                      <a:r>
                        <a:rPr lang="en-US" dirty="0">
                          <a:solidFill>
                            <a:schemeClr val="accent2">
                              <a:lumMod val="25000"/>
                            </a:schemeClr>
                          </a:solidFill>
                        </a:rPr>
                        <a:t>$1,400,000</a:t>
                      </a:r>
                    </a:p>
                  </a:txBody>
                  <a:tcPr anchor="ctr"/>
                </a:tc>
                <a:tc>
                  <a:txBody>
                    <a:bodyPr/>
                    <a:lstStyle/>
                    <a:p>
                      <a:pPr algn="ctr"/>
                      <a:r>
                        <a:rPr lang="en-US" dirty="0">
                          <a:solidFill>
                            <a:schemeClr val="accent2">
                              <a:lumMod val="25000"/>
                            </a:schemeClr>
                          </a:solidFill>
                        </a:rPr>
                        <a:t>-14%</a:t>
                      </a:r>
                    </a:p>
                  </a:txBody>
                  <a:tcPr anchor="ctr"/>
                </a:tc>
                <a:extLst>
                  <a:ext uri="{0D108BD9-81ED-4DB2-BD59-A6C34878D82A}">
                    <a16:rowId xmlns:a16="http://schemas.microsoft.com/office/drawing/2014/main" val="3937089168"/>
                  </a:ext>
                </a:extLst>
              </a:tr>
              <a:tr h="542758">
                <a:tc>
                  <a:txBody>
                    <a:bodyPr/>
                    <a:lstStyle/>
                    <a:p>
                      <a:pPr algn="ctr"/>
                      <a:r>
                        <a:rPr lang="en-US" dirty="0">
                          <a:solidFill>
                            <a:schemeClr val="accent2">
                              <a:lumMod val="25000"/>
                            </a:schemeClr>
                          </a:solidFill>
                        </a:rPr>
                        <a:t>Net profit</a:t>
                      </a:r>
                    </a:p>
                  </a:txBody>
                  <a:tcPr anchor="ctr"/>
                </a:tc>
                <a:tc>
                  <a:txBody>
                    <a:bodyPr/>
                    <a:lstStyle/>
                    <a:p>
                      <a:pPr algn="ctr"/>
                      <a:r>
                        <a:rPr lang="en-US" dirty="0">
                          <a:solidFill>
                            <a:schemeClr val="accent2">
                              <a:lumMod val="25000"/>
                            </a:schemeClr>
                          </a:solidFill>
                        </a:rPr>
                        <a:t>$1,000,000</a:t>
                      </a:r>
                    </a:p>
                  </a:txBody>
                  <a:tcPr anchor="ctr"/>
                </a:tc>
                <a:tc>
                  <a:txBody>
                    <a:bodyPr/>
                    <a:lstStyle/>
                    <a:p>
                      <a:pPr algn="ctr"/>
                      <a:r>
                        <a:rPr lang="en-US" dirty="0">
                          <a:solidFill>
                            <a:schemeClr val="accent2">
                              <a:lumMod val="25000"/>
                            </a:schemeClr>
                          </a:solidFill>
                        </a:rPr>
                        <a:t>$800,000</a:t>
                      </a:r>
                    </a:p>
                  </a:txBody>
                  <a:tcPr anchor="ctr"/>
                </a:tc>
                <a:tc>
                  <a:txBody>
                    <a:bodyPr/>
                    <a:lstStyle/>
                    <a:p>
                      <a:pPr algn="ctr"/>
                      <a:r>
                        <a:rPr lang="en-US" dirty="0">
                          <a:solidFill>
                            <a:schemeClr val="accent2">
                              <a:lumMod val="25000"/>
                            </a:schemeClr>
                          </a:solidFill>
                        </a:rPr>
                        <a:t>+25%</a:t>
                      </a:r>
                    </a:p>
                  </a:txBody>
                  <a:tcPr anchor="ctr"/>
                </a:tc>
                <a:extLst>
                  <a:ext uri="{0D108BD9-81ED-4DB2-BD59-A6C34878D82A}">
                    <a16:rowId xmlns:a16="http://schemas.microsoft.com/office/drawing/2014/main" val="1031597798"/>
                  </a:ext>
                </a:extLst>
              </a:tr>
              <a:tr h="542758">
                <a:tc>
                  <a:txBody>
                    <a:bodyPr/>
                    <a:lstStyle/>
                    <a:p>
                      <a:pPr algn="ctr"/>
                      <a:r>
                        <a:rPr lang="en-US" dirty="0">
                          <a:solidFill>
                            <a:schemeClr val="accent2">
                              <a:lumMod val="25000"/>
                            </a:schemeClr>
                          </a:solidFill>
                        </a:rPr>
                        <a:t>Operating margin</a:t>
                      </a:r>
                    </a:p>
                  </a:txBody>
                  <a:tcPr anchor="ctr"/>
                </a:tc>
                <a:tc>
                  <a:txBody>
                    <a:bodyPr/>
                    <a:lstStyle/>
                    <a:p>
                      <a:pPr algn="ctr"/>
                      <a:r>
                        <a:rPr lang="en-US" dirty="0">
                          <a:solidFill>
                            <a:schemeClr val="accent2">
                              <a:lumMod val="25000"/>
                            </a:schemeClr>
                          </a:solidFill>
                        </a:rPr>
                        <a:t>40%</a:t>
                      </a:r>
                    </a:p>
                  </a:txBody>
                  <a:tcPr anchor="ctr"/>
                </a:tc>
                <a:tc>
                  <a:txBody>
                    <a:bodyPr/>
                    <a:lstStyle/>
                    <a:p>
                      <a:pPr algn="ctr"/>
                      <a:r>
                        <a:rPr lang="en-US" dirty="0">
                          <a:solidFill>
                            <a:schemeClr val="accent2">
                              <a:lumMod val="25000"/>
                            </a:schemeClr>
                          </a:solidFill>
                        </a:rPr>
                        <a:t>36%</a:t>
                      </a:r>
                    </a:p>
                  </a:txBody>
                  <a:tcPr anchor="ctr"/>
                </a:tc>
                <a:tc>
                  <a:txBody>
                    <a:bodyPr/>
                    <a:lstStyle/>
                    <a:p>
                      <a:pPr algn="ctr"/>
                      <a:r>
                        <a:rPr lang="en-US" dirty="0">
                          <a:solidFill>
                            <a:schemeClr val="accent2">
                              <a:lumMod val="25000"/>
                            </a:schemeClr>
                          </a:solidFill>
                        </a:rPr>
                        <a:t>+4%</a:t>
                      </a:r>
                    </a:p>
                  </a:txBody>
                  <a:tcPr anchor="ctr"/>
                </a:tc>
                <a:extLst>
                  <a:ext uri="{0D108BD9-81ED-4DB2-BD59-A6C34878D82A}">
                    <a16:rowId xmlns:a16="http://schemas.microsoft.com/office/drawing/2014/main" val="1194376521"/>
                  </a:ext>
                </a:extLst>
              </a:tr>
              <a:tr h="542758">
                <a:tc>
                  <a:txBody>
                    <a:bodyPr/>
                    <a:lstStyle/>
                    <a:p>
                      <a:pPr algn="ctr"/>
                      <a:r>
                        <a:rPr lang="en-US" dirty="0">
                          <a:solidFill>
                            <a:schemeClr val="accent2">
                              <a:lumMod val="25000"/>
                            </a:schemeClr>
                          </a:solidFill>
                        </a:rPr>
                        <a:t>Cash reserves</a:t>
                      </a:r>
                    </a:p>
                  </a:txBody>
                  <a:tcPr anchor="ctr"/>
                </a:tc>
                <a:tc>
                  <a:txBody>
                    <a:bodyPr/>
                    <a:lstStyle/>
                    <a:p>
                      <a:pPr algn="ctr"/>
                      <a:r>
                        <a:rPr lang="en-US" dirty="0">
                          <a:solidFill>
                            <a:schemeClr val="accent2">
                              <a:lumMod val="25000"/>
                            </a:schemeClr>
                          </a:solidFill>
                        </a:rPr>
                        <a:t>$5,000,000</a:t>
                      </a:r>
                    </a:p>
                  </a:txBody>
                  <a:tcPr anchor="ctr"/>
                </a:tc>
                <a:tc>
                  <a:txBody>
                    <a:bodyPr/>
                    <a:lstStyle/>
                    <a:p>
                      <a:pPr algn="ctr"/>
                      <a:r>
                        <a:rPr lang="en-US" dirty="0">
                          <a:solidFill>
                            <a:schemeClr val="accent2">
                              <a:lumMod val="25000"/>
                            </a:schemeClr>
                          </a:solidFill>
                        </a:rPr>
                        <a:t>$4,500,000</a:t>
                      </a:r>
                    </a:p>
                  </a:txBody>
                  <a:tcPr anchor="ctr"/>
                </a:tc>
                <a:tc>
                  <a:txBody>
                    <a:bodyPr/>
                    <a:lstStyle/>
                    <a:p>
                      <a:pPr algn="ctr"/>
                      <a:r>
                        <a:rPr lang="en-US" dirty="0">
                          <a:solidFill>
                            <a:schemeClr val="accent2">
                              <a:lumMod val="25000"/>
                            </a:schemeClr>
                          </a:solidFill>
                        </a:rPr>
                        <a:t>+11%</a:t>
                      </a:r>
                    </a:p>
                  </a:txBody>
                  <a:tcPr anchor="ctr"/>
                </a:tc>
                <a:extLst>
                  <a:ext uri="{0D108BD9-81ED-4DB2-BD59-A6C34878D82A}">
                    <a16:rowId xmlns:a16="http://schemas.microsoft.com/office/drawing/2014/main" val="1918266800"/>
                  </a:ext>
                </a:extLst>
              </a:tr>
            </a:tbl>
          </a:graphicData>
        </a:graphic>
      </p:graphicFrame>
      <p:sp>
        <p:nvSpPr>
          <p:cNvPr id="3" name="Slide Number Placeholder 2">
            <a:extLst>
              <a:ext uri="{FF2B5EF4-FFF2-40B4-BE49-F238E27FC236}">
                <a16:creationId xmlns:a16="http://schemas.microsoft.com/office/drawing/2014/main" id="{CAEAF320-61B9-87FA-4DF5-7C3B0DC125A6}"/>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10</a:t>
            </a:fld>
            <a:endParaRPr lang="en-US" dirty="0"/>
          </a:p>
        </p:txBody>
      </p:sp>
    </p:spTree>
    <p:extLst>
      <p:ext uri="{BB962C8B-B14F-4D97-AF65-F5344CB8AC3E}">
        <p14:creationId xmlns:p14="http://schemas.microsoft.com/office/powerpoint/2010/main" val="3604630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034E89-1952-5288-08A0-70A4A73BE39E}"/>
              </a:ext>
            </a:extLst>
          </p:cNvPr>
          <p:cNvSpPr>
            <a:spLocks noGrp="1"/>
          </p:cNvSpPr>
          <p:nvPr>
            <p:ph type="ctrTitle"/>
          </p:nvPr>
        </p:nvSpPr>
        <p:spPr>
          <a:xfrm>
            <a:off x="612648" y="1600200"/>
            <a:ext cx="10991088" cy="3657600"/>
          </a:xfrm>
          <a:noFill/>
        </p:spPr>
        <p:txBody>
          <a:bodyPr anchor="ctr">
            <a:noAutofit/>
          </a:bodyPr>
          <a:lstStyle/>
          <a:p>
            <a:r>
              <a:rPr lang="en-US" dirty="0"/>
              <a:t>Innovative solutions</a:t>
            </a:r>
          </a:p>
        </p:txBody>
      </p:sp>
    </p:spTree>
    <p:extLst>
      <p:ext uri="{BB962C8B-B14F-4D97-AF65-F5344CB8AC3E}">
        <p14:creationId xmlns:p14="http://schemas.microsoft.com/office/powerpoint/2010/main" val="3058085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3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1078992" y="365760"/>
            <a:ext cx="10277856" cy="1655064"/>
          </a:xfrm>
          <a:noFill/>
        </p:spPr>
        <p:txBody>
          <a:bodyPr anchor="b">
            <a:noAutofit/>
          </a:bodyPr>
          <a:lstStyle/>
          <a:p>
            <a:r>
              <a:rPr lang="en-US" dirty="0"/>
              <a:t>Future initiatives</a:t>
            </a:r>
          </a:p>
        </p:txBody>
      </p:sp>
      <p:sp>
        <p:nvSpPr>
          <p:cNvPr id="3" name="Content Placeholder 2">
            <a:extLst>
              <a:ext uri="{FF2B5EF4-FFF2-40B4-BE49-F238E27FC236}">
                <a16:creationId xmlns:a16="http://schemas.microsoft.com/office/drawing/2014/main" id="{05948542-FCE1-3AE6-C6C9-17975609DF70}"/>
              </a:ext>
            </a:extLst>
          </p:cNvPr>
          <p:cNvSpPr>
            <a:spLocks noGrp="1"/>
          </p:cNvSpPr>
          <p:nvPr>
            <p:ph idx="1"/>
          </p:nvPr>
        </p:nvSpPr>
        <p:spPr>
          <a:xfrm>
            <a:off x="3575304" y="2441448"/>
            <a:ext cx="3602736" cy="3575304"/>
          </a:xfrm>
          <a:noFill/>
        </p:spPr>
        <p:txBody>
          <a:bodyPr vert="horz" lIns="91440" tIns="45720" rIns="91440" bIns="45720" rtlCol="0" anchor="t">
            <a:normAutofit lnSpcReduction="10000"/>
          </a:bodyPr>
          <a:lstStyle/>
          <a:p>
            <a:r>
              <a:rPr lang="en-US" dirty="0"/>
              <a:t>Product enhancement. Introduce regular updates and features to enhance product offerings.</a:t>
            </a:r>
          </a:p>
          <a:p>
            <a:r>
              <a:rPr lang="en-US" dirty="0"/>
              <a:t>Technology integration. Explore emerging technologies for potential integration into our operations.</a:t>
            </a:r>
          </a:p>
          <a:p>
            <a:r>
              <a:rPr lang="en-US" dirty="0"/>
              <a:t>Collaborative partnerships. Foster collaborations with tech innovators and industry leaders to drive innovation.</a:t>
            </a:r>
          </a:p>
        </p:txBody>
      </p:sp>
      <p:sp>
        <p:nvSpPr>
          <p:cNvPr id="4" name="Content Placeholder 3">
            <a:extLst>
              <a:ext uri="{FF2B5EF4-FFF2-40B4-BE49-F238E27FC236}">
                <a16:creationId xmlns:a16="http://schemas.microsoft.com/office/drawing/2014/main" id="{3EE67564-0457-E486-97D0-8109D2C97B3F}"/>
              </a:ext>
            </a:extLst>
          </p:cNvPr>
          <p:cNvSpPr>
            <a:spLocks noGrp="1"/>
          </p:cNvSpPr>
          <p:nvPr>
            <p:ph idx="13"/>
          </p:nvPr>
        </p:nvSpPr>
        <p:spPr>
          <a:xfrm>
            <a:off x="8293608" y="2441447"/>
            <a:ext cx="3063240" cy="3575303"/>
          </a:xfrm>
          <a:noFill/>
        </p:spPr>
        <p:txBody>
          <a:bodyPr vert="horz" lIns="91440" tIns="45720" rIns="91440" bIns="45720" rtlCol="0" anchor="t">
            <a:normAutofit/>
          </a:bodyPr>
          <a:lstStyle/>
          <a:p>
            <a:r>
              <a:rPr lang="en-US" dirty="0"/>
              <a:t>Green supply chain</a:t>
            </a:r>
          </a:p>
          <a:p>
            <a:r>
              <a:rPr lang="en-US" dirty="0"/>
              <a:t>Reduced carbon footprint</a:t>
            </a:r>
          </a:p>
          <a:p>
            <a:r>
              <a:rPr lang="en-US" dirty="0"/>
              <a:t>Waste reduction</a:t>
            </a:r>
          </a:p>
          <a:p>
            <a:r>
              <a:rPr lang="en-US" dirty="0"/>
              <a:t>Water conservation</a:t>
            </a:r>
          </a:p>
        </p:txBody>
      </p:sp>
      <p:sp>
        <p:nvSpPr>
          <p:cNvPr id="14" name="Slide Number Placeholder 13">
            <a:extLst>
              <a:ext uri="{FF2B5EF4-FFF2-40B4-BE49-F238E27FC236}">
                <a16:creationId xmlns:a16="http://schemas.microsoft.com/office/drawing/2014/main" id="{3F21905C-1BD6-BF3F-5B8B-B9AD53017014}"/>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12</a:t>
            </a:fld>
            <a:endParaRPr lang="en-US" dirty="0"/>
          </a:p>
        </p:txBody>
      </p:sp>
    </p:spTree>
    <p:extLst>
      <p:ext uri="{BB962C8B-B14F-4D97-AF65-F5344CB8AC3E}">
        <p14:creationId xmlns:p14="http://schemas.microsoft.com/office/powerpoint/2010/main" val="643777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A0D7AA-8A21-B977-56ED-94406F29957C}"/>
              </a:ext>
            </a:extLst>
          </p:cNvPr>
          <p:cNvSpPr>
            <a:spLocks noGrp="1"/>
          </p:cNvSpPr>
          <p:nvPr>
            <p:ph type="ctrTitle"/>
          </p:nvPr>
        </p:nvSpPr>
        <p:spPr>
          <a:xfrm>
            <a:off x="1133856" y="56450"/>
            <a:ext cx="9912096" cy="2743200"/>
          </a:xfrm>
          <a:noFill/>
        </p:spPr>
        <p:txBody>
          <a:bodyPr anchor="b">
            <a:noAutofit/>
          </a:bodyPr>
          <a:lstStyle/>
          <a:p>
            <a:r>
              <a:rPr lang="en-US" dirty="0"/>
              <a:t>Thank you</a:t>
            </a:r>
          </a:p>
        </p:txBody>
      </p:sp>
      <p:sp>
        <p:nvSpPr>
          <p:cNvPr id="6" name="Content Placeholder 5">
            <a:extLst>
              <a:ext uri="{FF2B5EF4-FFF2-40B4-BE49-F238E27FC236}">
                <a16:creationId xmlns:a16="http://schemas.microsoft.com/office/drawing/2014/main" id="{54D0A6B8-78EB-52CA-3D46-A46FC880D386}"/>
              </a:ext>
            </a:extLst>
          </p:cNvPr>
          <p:cNvSpPr>
            <a:spLocks noGrp="1"/>
          </p:cNvSpPr>
          <p:nvPr>
            <p:ph type="subTitle" idx="1"/>
          </p:nvPr>
        </p:nvSpPr>
        <p:spPr>
          <a:xfrm>
            <a:off x="3575304" y="3110546"/>
            <a:ext cx="4114800" cy="2743200"/>
          </a:xfrm>
          <a:noFill/>
        </p:spPr>
        <p:txBody>
          <a:bodyPr vert="horz" lIns="91440" tIns="45720" rIns="91440" bIns="45720" rtlCol="0" anchor="t" anchorCtr="0">
            <a:normAutofit/>
          </a:bodyPr>
          <a:lstStyle/>
          <a:p>
            <a:r>
              <a:rPr lang="en-US" noProof="0"/>
              <a:t>PEYTON DAVIS</a:t>
            </a:r>
          </a:p>
          <a:p>
            <a:r>
              <a:rPr lang="en-US" noProof="0" dirty="0"/>
              <a:t>424-555-0124</a:t>
            </a:r>
          </a:p>
          <a:p>
            <a:r>
              <a:rPr lang="en-US" noProof="0" dirty="0"/>
              <a:t>PEYTON@PROSEWARE.COM</a:t>
            </a:r>
          </a:p>
          <a:p>
            <a:r>
              <a:rPr lang="en-US" noProof="0" dirty="0"/>
              <a:t>WWW.PROSEWARE.COM</a:t>
            </a:r>
          </a:p>
        </p:txBody>
      </p:sp>
    </p:spTree>
    <p:extLst>
      <p:ext uri="{BB962C8B-B14F-4D97-AF65-F5344CB8AC3E}">
        <p14:creationId xmlns:p14="http://schemas.microsoft.com/office/powerpoint/2010/main" val="3751616652"/>
      </p:ext>
    </p:extLst>
  </p:cSld>
  <p:clrMapOvr>
    <a:masterClrMapping/>
  </p:clrMapOvr>
</p:sld>
</file>

<file path=ppt/theme/theme1.xml><?xml version="1.0" encoding="utf-8"?>
<a:theme xmlns:a="http://schemas.openxmlformats.org/drawingml/2006/main" name="Custom">
  <a:themeElements>
    <a:clrScheme name="Blue spheres">
      <a:dk1>
        <a:srgbClr val="000000"/>
      </a:dk1>
      <a:lt1>
        <a:srgbClr val="FFFFFF"/>
      </a:lt1>
      <a:dk2>
        <a:srgbClr val="E3E7ED"/>
      </a:dk2>
      <a:lt2>
        <a:srgbClr val="E8E8E8"/>
      </a:lt2>
      <a:accent1>
        <a:srgbClr val="7673F7"/>
      </a:accent1>
      <a:accent2>
        <a:srgbClr val="B8C2FD"/>
      </a:accent2>
      <a:accent3>
        <a:srgbClr val="DFE3FC"/>
      </a:accent3>
      <a:accent4>
        <a:srgbClr val="55B3FD"/>
      </a:accent4>
      <a:accent5>
        <a:srgbClr val="99F7F7"/>
      </a:accent5>
      <a:accent6>
        <a:srgbClr val="FEE43F"/>
      </a:accent6>
      <a:hlink>
        <a:srgbClr val="467886"/>
      </a:hlink>
      <a:folHlink>
        <a:srgbClr val="96607D"/>
      </a:folHlink>
    </a:clrScheme>
    <a:fontScheme name="Custom 23">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4076243_win32_CP_V3" id="{81AB0711-29F9-49D0-8A73-16AF25FD4C08}" vid="{D5AD44AB-53B9-4654-A4F8-1821A28F27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EA9B47F-3DD8-4645-81DC-B88780643C07}">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567F3CB5-3475-4129-AB60-D0C937DE91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0C07E3D-60A7-4F4E-8208-D9CCD01982CB}">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Blue spheres presentation</Template>
  <TotalTime>5</TotalTime>
  <Words>390</Words>
  <Application>Microsoft Office PowerPoint</Application>
  <PresentationFormat>Widescreen</PresentationFormat>
  <Paragraphs>111</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Calibri</vt:lpstr>
      <vt:lpstr>Custom</vt:lpstr>
      <vt:lpstr>Growth strategies</vt:lpstr>
      <vt:lpstr>Agenda</vt:lpstr>
      <vt:lpstr>Strategies for growth</vt:lpstr>
      <vt:lpstr>Current market analysis</vt:lpstr>
      <vt:lpstr>Market expansion</vt:lpstr>
      <vt:lpstr>Product launch</vt:lpstr>
      <vt:lpstr>Marketing strategies</vt:lpstr>
      <vt:lpstr>Financial overview</vt:lpstr>
      <vt:lpstr>Quarterly targets</vt:lpstr>
      <vt:lpstr>Financial snapshot</vt:lpstr>
      <vt:lpstr>Innovative solutions</vt:lpstr>
      <vt:lpstr>Future initiatives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Justin Morrow</dc:creator>
  <cp:lastModifiedBy>Justin Morrow</cp:lastModifiedBy>
  <cp:revision>1</cp:revision>
  <dcterms:created xsi:type="dcterms:W3CDTF">2026-07-25T17:34:07Z</dcterms:created>
  <dcterms:modified xsi:type="dcterms:W3CDTF">2026-07-25T17:39:53Z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