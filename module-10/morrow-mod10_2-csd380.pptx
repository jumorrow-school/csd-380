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6" r:id="rId5"/>
    <p:sldId id="298" r:id="rId6"/>
    <p:sldId id="300" r:id="rId7"/>
    <p:sldId id="263" r:id="rId8"/>
    <p:sldId id="286" r:id="rId9"/>
    <p:sldId id="285" r:id="rId10"/>
    <p:sldId id="265" r:id="rId11"/>
    <p:sldId id="2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887" autoAdjust="0"/>
  </p:normalViewPr>
  <p:slideViewPr>
    <p:cSldViewPr snapToGrid="0" showGuides="1">
      <p:cViewPr varScale="1">
        <p:scale>
          <a:sx n="97" d="100"/>
          <a:sy n="97" d="100"/>
        </p:scale>
        <p:origin x="111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0ECF89-2783-4E78-A209-A16EF114A1AA}" type="doc">
      <dgm:prSet loTypeId="urn:microsoft.com/office/officeart/2016/7/layout/LinProcess3" loCatId="list" qsTypeId="urn:microsoft.com/office/officeart/2005/8/quickstyle/simple5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FB58190-E438-47AF-86F3-FAEC2813ACF1}">
      <dgm:prSet custT="1"/>
      <dgm:spPr/>
      <dgm:t>
        <a:bodyPr/>
        <a:lstStyle/>
        <a:p>
          <a:r>
            <a:rPr lang="en-US" sz="2000" dirty="0"/>
            <a:t>Defensive Architecture:</a:t>
          </a:r>
        </a:p>
        <a:p>
          <a:br>
            <a:rPr lang="en-US" sz="1600" dirty="0"/>
          </a:br>
          <a:r>
            <a:rPr lang="en-US" sz="1600" dirty="0"/>
            <a:t>Best when repository pipelines have a combination of RBAC, MFA, Branch protection, secret scanning, &amp; automated SAST/SCA testing</a:t>
          </a:r>
          <a:r>
            <a:rPr lang="en-US" sz="1600" noProof="1"/>
            <a:t>. </a:t>
          </a:r>
        </a:p>
      </dgm:t>
    </dgm:pt>
    <dgm:pt modelId="{A40BCF22-228C-4E6F-A028-7BBDE5C12E5A}" type="parTrans" cxnId="{8FB3CA80-DD34-4F68-B118-EAE12645570F}">
      <dgm:prSet/>
      <dgm:spPr/>
      <dgm:t>
        <a:bodyPr/>
        <a:lstStyle/>
        <a:p>
          <a:endParaRPr lang="en-US"/>
        </a:p>
      </dgm:t>
    </dgm:pt>
    <dgm:pt modelId="{547F8894-C324-4B84-95BE-A51E4FE0FA16}" type="sibTrans" cxnId="{8FB3CA80-DD34-4F68-B118-EAE12645570F}">
      <dgm:prSet/>
      <dgm:spPr/>
      <dgm:t>
        <a:bodyPr/>
        <a:lstStyle/>
        <a:p>
          <a:endParaRPr lang="en-US" dirty="0"/>
        </a:p>
      </dgm:t>
    </dgm:pt>
    <dgm:pt modelId="{C2A3EC29-44BC-4E51-92DE-E27BF9CD4489}">
      <dgm:prSet custT="1"/>
      <dgm:spPr/>
      <dgm:t>
        <a:bodyPr spcFirstLastPara="0" vert="horz" wrap="square" lIns="256199" tIns="330200" rIns="256199" bIns="330200" numCol="1" spcCol="1270" anchor="t" anchorCtr="0"/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  <a:ea typeface="+mn-ea"/>
              <a:cs typeface="+mn-cs"/>
            </a:rPr>
            <a:t>Security Development: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Aptos" panose="020B0004020202020204" pitchFamily="34" charset="0"/>
              <a:ea typeface="+mn-ea"/>
              <a:cs typeface="+mn-cs"/>
            </a:rPr>
          </a:br>
          <a:r>
            <a:rPr lang="en-US" sz="1600" kern="1200" dirty="0">
              <a:latin typeface="+mn-lt"/>
              <a:ea typeface="+mn-ea"/>
              <a:cs typeface="+mn-cs"/>
            </a:rPr>
            <a:t>Shifting security left ensures continuous compliance by embedding security checks in the earliest stages of the Software Development Lifecycle (SDLC).</a:t>
          </a:r>
          <a:endParaRPr lang="en-US" sz="1600" kern="1200" noProof="1">
            <a:latin typeface="+mn-lt"/>
            <a:ea typeface="+mn-ea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Calibri"/>
            <a:ea typeface="+mn-ea"/>
            <a:cs typeface="+mn-cs"/>
          </a:endParaRPr>
        </a:p>
      </dgm:t>
    </dgm:pt>
    <dgm:pt modelId="{CE6B5045-A42D-4562-9588-2342D0E47934}" type="parTrans" cxnId="{B49FD08F-C9D7-4FC0-B446-ED9717719A00}">
      <dgm:prSet/>
      <dgm:spPr/>
      <dgm:t>
        <a:bodyPr/>
        <a:lstStyle/>
        <a:p>
          <a:endParaRPr lang="en-US"/>
        </a:p>
      </dgm:t>
    </dgm:pt>
    <dgm:pt modelId="{10254594-A53F-49FE-B0F2-BC233EE7109F}" type="sibTrans" cxnId="{B49FD08F-C9D7-4FC0-B446-ED9717719A00}">
      <dgm:prSet/>
      <dgm:spPr/>
      <dgm:t>
        <a:bodyPr/>
        <a:lstStyle/>
        <a:p>
          <a:endParaRPr lang="en-US" dirty="0"/>
        </a:p>
      </dgm:t>
    </dgm:pt>
    <dgm:pt modelId="{ACE795D8-4182-4DF1-B098-DD0AD48044C8}" type="pres">
      <dgm:prSet presAssocID="{BB0ECF89-2783-4E78-A209-A16EF114A1AA}" presName="Name0" presStyleCnt="0">
        <dgm:presLayoutVars>
          <dgm:animLvl val="lvl"/>
          <dgm:resizeHandles val="exact"/>
        </dgm:presLayoutVars>
      </dgm:prSet>
      <dgm:spPr/>
    </dgm:pt>
    <dgm:pt modelId="{01457034-7B47-4E8B-B040-E0565D08290C}" type="pres">
      <dgm:prSet presAssocID="{FFB58190-E438-47AF-86F3-FAEC2813ACF1}" presName="compositeNode" presStyleCnt="0">
        <dgm:presLayoutVars>
          <dgm:bulletEnabled val="1"/>
        </dgm:presLayoutVars>
      </dgm:prSet>
      <dgm:spPr/>
    </dgm:pt>
    <dgm:pt modelId="{39A872F9-A5B8-4211-9FCD-79722E167124}" type="pres">
      <dgm:prSet presAssocID="{FFB58190-E438-47AF-86F3-FAEC2813ACF1}" presName="bgRect" presStyleLbl="bgAccFollowNode1" presStyleIdx="0" presStyleCnt="2"/>
      <dgm:spPr/>
    </dgm:pt>
    <dgm:pt modelId="{8157E768-0524-44F1-8F00-7DF53576D2D6}" type="pres">
      <dgm:prSet presAssocID="{547F8894-C324-4B84-95BE-A51E4FE0FA16}" presName="sibTransNodeCircle" presStyleLbl="alignNode1" presStyleIdx="0" presStyleCnt="4">
        <dgm:presLayoutVars>
          <dgm:chMax val="0"/>
          <dgm:bulletEnabled/>
        </dgm:presLayoutVars>
      </dgm:prSet>
      <dgm:spPr>
        <a:xfrm>
          <a:off x="990361" y="435133"/>
          <a:ext cx="1305401" cy="1305401"/>
        </a:xfrm>
        <a:prstGeom prst="rect">
          <a:avLst/>
        </a:prstGeom>
      </dgm:spPr>
    </dgm:pt>
    <dgm:pt modelId="{676D607A-85D2-4EAF-B264-A9D94B61A4FF}" type="pres">
      <dgm:prSet presAssocID="{FFB58190-E438-47AF-86F3-FAEC2813ACF1}" presName="bottomLine" presStyleLbl="alignNode1" presStyleIdx="1" presStyleCnt="4">
        <dgm:presLayoutVars/>
      </dgm:prSet>
      <dgm:spPr/>
    </dgm:pt>
    <dgm:pt modelId="{3DFCE59B-AEDE-4DE2-8B09-D05F047AB42F}" type="pres">
      <dgm:prSet presAssocID="{FFB58190-E438-47AF-86F3-FAEC2813ACF1}" presName="nodeText" presStyleLbl="bgAccFollowNode1" presStyleIdx="0" presStyleCnt="2">
        <dgm:presLayoutVars>
          <dgm:bulletEnabled val="1"/>
        </dgm:presLayoutVars>
      </dgm:prSet>
      <dgm:spPr/>
    </dgm:pt>
    <dgm:pt modelId="{AD65492C-54BB-4101-B1E0-86F57716A25E}" type="pres">
      <dgm:prSet presAssocID="{547F8894-C324-4B84-95BE-A51E4FE0FA16}" presName="sibTrans" presStyleCnt="0"/>
      <dgm:spPr/>
    </dgm:pt>
    <dgm:pt modelId="{F4C4AEC7-6D64-4C71-ADC5-0F5CC45360C6}" type="pres">
      <dgm:prSet presAssocID="{C2A3EC29-44BC-4E51-92DE-E27BF9CD4489}" presName="compositeNode" presStyleCnt="0">
        <dgm:presLayoutVars>
          <dgm:bulletEnabled val="1"/>
        </dgm:presLayoutVars>
      </dgm:prSet>
      <dgm:spPr/>
    </dgm:pt>
    <dgm:pt modelId="{3AF3868F-681F-4EF9-8B83-F3B0F354A4C4}" type="pres">
      <dgm:prSet presAssocID="{C2A3EC29-44BC-4E51-92DE-E27BF9CD4489}" presName="bgRect" presStyleLbl="bgAccFollowNode1" presStyleIdx="1" presStyleCnt="2"/>
      <dgm:spPr>
        <a:xfrm>
          <a:off x="7229475" y="0"/>
          <a:ext cx="3286125" cy="4351338"/>
        </a:xfrm>
        <a:prstGeom prst="rect">
          <a:avLst/>
        </a:prstGeom>
      </dgm:spPr>
    </dgm:pt>
    <dgm:pt modelId="{9718E67E-2C8C-4093-AB5F-E3BEFAAEA31B}" type="pres">
      <dgm:prSet presAssocID="{10254594-A53F-49FE-B0F2-BC233EE7109F}" presName="sibTransNodeCircle" presStyleLbl="alignNode1" presStyleIdx="2" presStyleCnt="4">
        <dgm:presLayoutVars>
          <dgm:chMax val="0"/>
          <dgm:bulletEnabled/>
        </dgm:presLayoutVars>
      </dgm:prSet>
      <dgm:spPr>
        <a:xfrm>
          <a:off x="8219836" y="435133"/>
          <a:ext cx="1305401" cy="1305401"/>
        </a:xfrm>
        <a:prstGeom prst="rect">
          <a:avLst/>
        </a:prstGeom>
      </dgm:spPr>
    </dgm:pt>
    <dgm:pt modelId="{13CAC05E-7817-4F00-94BF-9DC0F20DF1D8}" type="pres">
      <dgm:prSet presAssocID="{C2A3EC29-44BC-4E51-92DE-E27BF9CD4489}" presName="bottomLine" presStyleLbl="alignNode1" presStyleIdx="3" presStyleCnt="4">
        <dgm:presLayoutVars/>
      </dgm:prSet>
      <dgm:spPr/>
    </dgm:pt>
    <dgm:pt modelId="{90A7E684-CAA3-435E-B654-85F1BA7D2B87}" type="pres">
      <dgm:prSet presAssocID="{C2A3EC29-44BC-4E51-92DE-E27BF9CD4489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2229DB1B-DE4F-469E-8FA0-07BEC5B5F9D6}" type="presOf" srcId="{10254594-A53F-49FE-B0F2-BC233EE7109F}" destId="{9718E67E-2C8C-4093-AB5F-E3BEFAAEA31B}" srcOrd="0" destOrd="0" presId="urn:microsoft.com/office/officeart/2016/7/layout/LinProcess3"/>
    <dgm:cxn modelId="{0C140A6B-1B4A-4553-81FF-5591D9487696}" type="presOf" srcId="{C2A3EC29-44BC-4E51-92DE-E27BF9CD4489}" destId="{3AF3868F-681F-4EF9-8B83-F3B0F354A4C4}" srcOrd="0" destOrd="0" presId="urn:microsoft.com/office/officeart/2016/7/layout/LinProcess3"/>
    <dgm:cxn modelId="{025C3756-4F90-42F6-B826-13223FDABED0}" type="presOf" srcId="{547F8894-C324-4B84-95BE-A51E4FE0FA16}" destId="{8157E768-0524-44F1-8F00-7DF53576D2D6}" srcOrd="0" destOrd="0" presId="urn:microsoft.com/office/officeart/2016/7/layout/LinProcess3"/>
    <dgm:cxn modelId="{8FB3CA80-DD34-4F68-B118-EAE12645570F}" srcId="{BB0ECF89-2783-4E78-A209-A16EF114A1AA}" destId="{FFB58190-E438-47AF-86F3-FAEC2813ACF1}" srcOrd="0" destOrd="0" parTransId="{A40BCF22-228C-4E6F-A028-7BBDE5C12E5A}" sibTransId="{547F8894-C324-4B84-95BE-A51E4FE0FA16}"/>
    <dgm:cxn modelId="{B49FD08F-C9D7-4FC0-B446-ED9717719A00}" srcId="{BB0ECF89-2783-4E78-A209-A16EF114A1AA}" destId="{C2A3EC29-44BC-4E51-92DE-E27BF9CD4489}" srcOrd="1" destOrd="0" parTransId="{CE6B5045-A42D-4562-9588-2342D0E47934}" sibTransId="{10254594-A53F-49FE-B0F2-BC233EE7109F}"/>
    <dgm:cxn modelId="{469CA3A1-2EC0-458C-B828-8121A2D4750A}" type="presOf" srcId="{BB0ECF89-2783-4E78-A209-A16EF114A1AA}" destId="{ACE795D8-4182-4DF1-B098-DD0AD48044C8}" srcOrd="0" destOrd="0" presId="urn:microsoft.com/office/officeart/2016/7/layout/LinProcess3"/>
    <dgm:cxn modelId="{C8A4ECC3-0B95-497F-8D57-1124DFD9842C}" type="presOf" srcId="{C2A3EC29-44BC-4E51-92DE-E27BF9CD4489}" destId="{90A7E684-CAA3-435E-B654-85F1BA7D2B87}" srcOrd="1" destOrd="0" presId="urn:microsoft.com/office/officeart/2016/7/layout/LinProcess3"/>
    <dgm:cxn modelId="{13094BE1-4993-450F-9A18-CF0E62019EF7}" type="presOf" srcId="{FFB58190-E438-47AF-86F3-FAEC2813ACF1}" destId="{39A872F9-A5B8-4211-9FCD-79722E167124}" srcOrd="0" destOrd="0" presId="urn:microsoft.com/office/officeart/2016/7/layout/LinProcess3"/>
    <dgm:cxn modelId="{D24113F0-9FAB-4A26-B7AA-17C02606FE1D}" type="presOf" srcId="{FFB58190-E438-47AF-86F3-FAEC2813ACF1}" destId="{3DFCE59B-AEDE-4DE2-8B09-D05F047AB42F}" srcOrd="1" destOrd="0" presId="urn:microsoft.com/office/officeart/2016/7/layout/LinProcess3"/>
    <dgm:cxn modelId="{76481A27-79A5-48E5-BA29-16004448893C}" type="presParOf" srcId="{ACE795D8-4182-4DF1-B098-DD0AD48044C8}" destId="{01457034-7B47-4E8B-B040-E0565D08290C}" srcOrd="0" destOrd="0" presId="urn:microsoft.com/office/officeart/2016/7/layout/LinProcess3"/>
    <dgm:cxn modelId="{86BEA9C1-5DDA-42C2-937D-A7130110FF74}" type="presParOf" srcId="{01457034-7B47-4E8B-B040-E0565D08290C}" destId="{39A872F9-A5B8-4211-9FCD-79722E167124}" srcOrd="0" destOrd="0" presId="urn:microsoft.com/office/officeart/2016/7/layout/LinProcess3"/>
    <dgm:cxn modelId="{7DC5639C-5BDF-4F6D-A737-811AEFB16C12}" type="presParOf" srcId="{01457034-7B47-4E8B-B040-E0565D08290C}" destId="{8157E768-0524-44F1-8F00-7DF53576D2D6}" srcOrd="1" destOrd="0" presId="urn:microsoft.com/office/officeart/2016/7/layout/LinProcess3"/>
    <dgm:cxn modelId="{9BE7A881-53AA-46A4-B4D9-5952CA3DDD83}" type="presParOf" srcId="{01457034-7B47-4E8B-B040-E0565D08290C}" destId="{676D607A-85D2-4EAF-B264-A9D94B61A4FF}" srcOrd="2" destOrd="0" presId="urn:microsoft.com/office/officeart/2016/7/layout/LinProcess3"/>
    <dgm:cxn modelId="{3CDC6E8B-95DF-4144-9A43-8F1F01D9B5EA}" type="presParOf" srcId="{01457034-7B47-4E8B-B040-E0565D08290C}" destId="{3DFCE59B-AEDE-4DE2-8B09-D05F047AB42F}" srcOrd="3" destOrd="0" presId="urn:microsoft.com/office/officeart/2016/7/layout/LinProcess3"/>
    <dgm:cxn modelId="{050D0D46-967C-45EE-A82A-AD10E04485C1}" type="presParOf" srcId="{ACE795D8-4182-4DF1-B098-DD0AD48044C8}" destId="{AD65492C-54BB-4101-B1E0-86F57716A25E}" srcOrd="1" destOrd="0" presId="urn:microsoft.com/office/officeart/2016/7/layout/LinProcess3"/>
    <dgm:cxn modelId="{1694C3CA-CE7E-4D7A-B769-94D0C473B6D9}" type="presParOf" srcId="{ACE795D8-4182-4DF1-B098-DD0AD48044C8}" destId="{F4C4AEC7-6D64-4C71-ADC5-0F5CC45360C6}" srcOrd="2" destOrd="0" presId="urn:microsoft.com/office/officeart/2016/7/layout/LinProcess3"/>
    <dgm:cxn modelId="{01DA811B-E595-4B26-916D-A5B9420780B1}" type="presParOf" srcId="{F4C4AEC7-6D64-4C71-ADC5-0F5CC45360C6}" destId="{3AF3868F-681F-4EF9-8B83-F3B0F354A4C4}" srcOrd="0" destOrd="0" presId="urn:microsoft.com/office/officeart/2016/7/layout/LinProcess3"/>
    <dgm:cxn modelId="{65C50157-4E89-44E0-ADFE-2CDCD946EC0C}" type="presParOf" srcId="{F4C4AEC7-6D64-4C71-ADC5-0F5CC45360C6}" destId="{9718E67E-2C8C-4093-AB5F-E3BEFAAEA31B}" srcOrd="1" destOrd="0" presId="urn:microsoft.com/office/officeart/2016/7/layout/LinProcess3"/>
    <dgm:cxn modelId="{03312845-43B9-45C8-960A-3A8CADC652DB}" type="presParOf" srcId="{F4C4AEC7-6D64-4C71-ADC5-0F5CC45360C6}" destId="{13CAC05E-7817-4F00-94BF-9DC0F20DF1D8}" srcOrd="2" destOrd="0" presId="urn:microsoft.com/office/officeart/2016/7/layout/LinProcess3"/>
    <dgm:cxn modelId="{D7A81CCE-E542-4242-8542-3C297BE2D6C9}" type="presParOf" srcId="{F4C4AEC7-6D64-4C71-ADC5-0F5CC45360C6}" destId="{90A7E684-CAA3-435E-B654-85F1BA7D2B87}" srcOrd="3" destOrd="0" presId="urn:microsoft.com/office/officeart/2016/7/layout/Lin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872F9-A5B8-4211-9FCD-79722E167124}">
      <dsp:nvSpPr>
        <dsp:cNvPr id="0" name=""/>
        <dsp:cNvSpPr/>
      </dsp:nvSpPr>
      <dsp:spPr>
        <a:xfrm>
          <a:off x="1283" y="0"/>
          <a:ext cx="5006206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Defensive Architecture: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/>
          </a:br>
          <a:r>
            <a:rPr lang="en-US" sz="1600" kern="1200" dirty="0"/>
            <a:t>Best when repository pipelines have a combination of RBAC, MFA, Branch protection, secret scanning, &amp; automated SAST/SCA testing</a:t>
          </a:r>
          <a:r>
            <a:rPr lang="en-US" sz="1600" kern="1200" noProof="1"/>
            <a:t>. </a:t>
          </a:r>
        </a:p>
      </dsp:txBody>
      <dsp:txXfrm>
        <a:off x="1283" y="1653508"/>
        <a:ext cx="5006206" cy="2610802"/>
      </dsp:txXfrm>
    </dsp:sp>
    <dsp:sp modelId="{8157E768-0524-44F1-8F00-7DF53576D2D6}">
      <dsp:nvSpPr>
        <dsp:cNvPr id="0" name=""/>
        <dsp:cNvSpPr/>
      </dsp:nvSpPr>
      <dsp:spPr>
        <a:xfrm>
          <a:off x="1851685" y="435133"/>
          <a:ext cx="1305401" cy="13054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 dirty="0"/>
        </a:p>
      </dsp:txBody>
      <dsp:txXfrm>
        <a:off x="1851685" y="435133"/>
        <a:ext cx="1305401" cy="1305401"/>
      </dsp:txXfrm>
    </dsp:sp>
    <dsp:sp modelId="{676D607A-85D2-4EAF-B264-A9D94B61A4FF}">
      <dsp:nvSpPr>
        <dsp:cNvPr id="0" name=""/>
        <dsp:cNvSpPr/>
      </dsp:nvSpPr>
      <dsp:spPr>
        <a:xfrm>
          <a:off x="1283" y="4351266"/>
          <a:ext cx="5006206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AF3868F-681F-4EF9-8B83-F3B0F354A4C4}">
      <dsp:nvSpPr>
        <dsp:cNvPr id="0" name=""/>
        <dsp:cNvSpPr/>
      </dsp:nvSpPr>
      <dsp:spPr>
        <a:xfrm>
          <a:off x="5508110" y="0"/>
          <a:ext cx="5006206" cy="43513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  <a:ea typeface="+mn-ea"/>
              <a:cs typeface="+mn-cs"/>
            </a:rPr>
            <a:t>Security Development: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Aptos" panose="020B0004020202020204" pitchFamily="34" charset="0"/>
              <a:ea typeface="+mn-ea"/>
              <a:cs typeface="+mn-cs"/>
            </a:rPr>
          </a:br>
          <a:r>
            <a:rPr lang="en-US" sz="1600" kern="1200" dirty="0">
              <a:latin typeface="+mn-lt"/>
              <a:ea typeface="+mn-ea"/>
              <a:cs typeface="+mn-cs"/>
            </a:rPr>
            <a:t>Shifting security left ensures continuous compliance by embedding security checks in the earliest stages of the Software Development Lifecycle (SDLC).</a:t>
          </a:r>
          <a:endParaRPr lang="en-US" sz="1600" kern="1200" noProof="1">
            <a:latin typeface="+mn-lt"/>
            <a:ea typeface="+mn-ea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Calibri"/>
            <a:ea typeface="+mn-ea"/>
            <a:cs typeface="+mn-cs"/>
          </a:endParaRPr>
        </a:p>
      </dsp:txBody>
      <dsp:txXfrm>
        <a:off x="5508110" y="1653508"/>
        <a:ext cx="5006206" cy="2610802"/>
      </dsp:txXfrm>
    </dsp:sp>
    <dsp:sp modelId="{9718E67E-2C8C-4093-AB5F-E3BEFAAEA31B}">
      <dsp:nvSpPr>
        <dsp:cNvPr id="0" name=""/>
        <dsp:cNvSpPr/>
      </dsp:nvSpPr>
      <dsp:spPr>
        <a:xfrm>
          <a:off x="7358512" y="435133"/>
          <a:ext cx="1305401" cy="130540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800" kern="1200" dirty="0"/>
        </a:p>
      </dsp:txBody>
      <dsp:txXfrm>
        <a:off x="7358512" y="435133"/>
        <a:ext cx="1305401" cy="1305401"/>
      </dsp:txXfrm>
    </dsp:sp>
    <dsp:sp modelId="{13CAC05E-7817-4F00-94BF-9DC0F20DF1D8}">
      <dsp:nvSpPr>
        <dsp:cNvPr id="0" name=""/>
        <dsp:cNvSpPr/>
      </dsp:nvSpPr>
      <dsp:spPr>
        <a:xfrm>
          <a:off x="5508110" y="4351266"/>
          <a:ext cx="5006206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Process3">
  <dgm:title val="Basic Linear Process"/>
  <dgm:desc val=""/>
  <dgm:catLst>
    <dgm:cat type="list" pri="500"/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7/25/2026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65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158D-E494-6A37-049D-EC049975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D7297-C172-1F96-0B14-020C2FAB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8/6/20XX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16326-588F-6684-F34C-D16F41E8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1C4E1-0D98-C554-614C-D1D173FA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7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719" r:id="rId14"/>
    <p:sldLayoutId id="214748372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rness.io/harness-devops-academy/what-is-code-repository-security" TargetMode="External"/><Relationship Id="rId2" Type="http://schemas.openxmlformats.org/officeDocument/2006/relationships/hyperlink" Target="https://checkmarx.com/blog/supply-chain-security/repository-health-monitoring-part-2-essential-practices-for-secure-repositories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ibm.com/solutions/observability/security-in-devops-guide" TargetMode="External"/><Relationship Id="rId4" Type="http://schemas.openxmlformats.org/officeDocument/2006/relationships/hyperlink" Target="https://snyk.io/articles/securing-source-code-repositor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/>
          <a:lstStyle/>
          <a:p>
            <a:r>
              <a:rPr lang="en-US" sz="5400" dirty="0"/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2"/>
            <a:ext cx="10954512" cy="17282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Presented by Justin Morrow</a:t>
            </a:r>
          </a:p>
          <a:p>
            <a:r>
              <a:rPr lang="en-US" sz="2000" dirty="0"/>
              <a:t>CSD-380: Module 10.2</a:t>
            </a:r>
          </a:p>
          <a:p>
            <a:r>
              <a:rPr lang="en-US" sz="2000" dirty="0"/>
              <a:t>Date: 07/25/2026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/>
          <a:lstStyle/>
          <a:p>
            <a:r>
              <a:rPr lang="en-ZA" dirty="0"/>
              <a:t>Zero Trust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3792731"/>
            <a:ext cx="5163692" cy="2814546"/>
          </a:xfrm>
        </p:spPr>
        <p:txBody>
          <a:bodyPr vert="horz" lIns="0" tIns="45720" rIns="91440" bIns="45720" rtlCol="0" anchor="t">
            <a:normAutofit lnSpcReduction="10000"/>
          </a:bodyPr>
          <a:lstStyle/>
          <a:p>
            <a:r>
              <a:rPr lang="en-US" b="1" dirty="0"/>
              <a:t>Controlling the repository entry points prevents unauthorized access and maintains strict compliance: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Role-Base Access Control (RBAC): </a:t>
            </a:r>
            <a:r>
              <a:rPr lang="en-US" dirty="0"/>
              <a:t>Enforces the principle of least privilege, restricting admin permissions to designated personnel.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Mandatory MFA &amp; SSO: </a:t>
            </a:r>
            <a:r>
              <a:rPr lang="en-US" dirty="0"/>
              <a:t>Requires multi-factor authentication and enterprise IdP integration to eliminate single-point credential compromises.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Auditability &amp; Governance: </a:t>
            </a:r>
            <a:r>
              <a:rPr lang="en-US" dirty="0"/>
              <a:t>Centralized logs track exact user commits and policy modifications for regulatory compliance.</a:t>
            </a:r>
          </a:p>
        </p:txBody>
      </p:sp>
      <p:pic>
        <p:nvPicPr>
          <p:cNvPr id="8" name="Graphic 7" descr="Fingerprint with solid fill">
            <a:extLst>
              <a:ext uri="{FF2B5EF4-FFF2-40B4-BE49-F238E27FC236}">
                <a16:creationId xmlns:a16="http://schemas.microsoft.com/office/drawing/2014/main" id="{76B905AC-98D3-6357-FE2F-9571B8D5B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5952" y="475019"/>
            <a:ext cx="1929581" cy="1929581"/>
          </a:xfrm>
          <a:prstGeom prst="rect">
            <a:avLst/>
          </a:prstGeom>
        </p:spPr>
      </p:pic>
      <p:pic>
        <p:nvPicPr>
          <p:cNvPr id="10" name="Graphic 9" descr="Magnifying glass with solid fill">
            <a:extLst>
              <a:ext uri="{FF2B5EF4-FFF2-40B4-BE49-F238E27FC236}">
                <a16:creationId xmlns:a16="http://schemas.microsoft.com/office/drawing/2014/main" id="{2BE2FE5C-582E-414A-0326-505610685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9" y="-130341"/>
            <a:ext cx="3923072" cy="3923072"/>
          </a:xfrm>
          <a:prstGeom prst="rect">
            <a:avLst/>
          </a:prstGeom>
        </p:spPr>
      </p:pic>
      <p:pic>
        <p:nvPicPr>
          <p:cNvPr id="12" name="Graphic 11" descr="Close outline">
            <a:extLst>
              <a:ext uri="{FF2B5EF4-FFF2-40B4-BE49-F238E27FC236}">
                <a16:creationId xmlns:a16="http://schemas.microsoft.com/office/drawing/2014/main" id="{C7076A53-8E11-210F-3E7E-868D0D1FF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5953" y="475020"/>
            <a:ext cx="1929581" cy="19295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5644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855392-9FED-4979-8AC6-A7303764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30741"/>
            <a:ext cx="7676535" cy="833663"/>
          </a:xfrm>
        </p:spPr>
        <p:txBody>
          <a:bodyPr>
            <a:normAutofit/>
          </a:bodyPr>
          <a:lstStyle/>
          <a:p>
            <a:r>
              <a:rPr lang="en-US" sz="4800" dirty="0"/>
              <a:t>DevOps Security Practices</a:t>
            </a:r>
          </a:p>
        </p:txBody>
      </p:sp>
      <p:graphicFrame>
        <p:nvGraphicFramePr>
          <p:cNvPr id="10" name="Content Placeholder 2" descr="Content Placeholder">
            <a:extLst>
              <a:ext uri="{FF2B5EF4-FFF2-40B4-BE49-F238E27FC236}">
                <a16:creationId xmlns:a16="http://schemas.microsoft.com/office/drawing/2014/main" id="{47A11266-E870-4547-80E5-8133E862A7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6764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Graphic 11" descr="Lock">
            <a:extLst>
              <a:ext uri="{FF2B5EF4-FFF2-40B4-BE49-F238E27FC236}">
                <a16:creationId xmlns:a16="http://schemas.microsoft.com/office/drawing/2014/main" id="{F2110C71-00D1-4949-9213-38E48FACE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5330" y="2545226"/>
            <a:ext cx="624548" cy="624548"/>
          </a:xfrm>
          <a:prstGeom prst="rect">
            <a:avLst/>
          </a:prstGeom>
        </p:spPr>
      </p:pic>
      <p:pic>
        <p:nvPicPr>
          <p:cNvPr id="16" name="Graphic 15" descr="Head with gears with solid fill">
            <a:extLst>
              <a:ext uri="{FF2B5EF4-FFF2-40B4-BE49-F238E27FC236}">
                <a16:creationId xmlns:a16="http://schemas.microsoft.com/office/drawing/2014/main" id="{D988924E-5A5D-4D29-95C0-814C9160B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22124" y="2545226"/>
            <a:ext cx="624548" cy="6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4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266" cy="912434"/>
          </a:xfrm>
          <a:noFill/>
        </p:spPr>
        <p:txBody>
          <a:bodyPr>
            <a:noAutofit/>
          </a:bodyPr>
          <a:lstStyle/>
          <a:p>
            <a:pPr algn="ctr"/>
            <a:r>
              <a:rPr lang="en-US" dirty="0"/>
              <a:t>Repository Security Control Pipeline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126389-C469-1E0F-6820-6AA21AF839E2}"/>
              </a:ext>
            </a:extLst>
          </p:cNvPr>
          <p:cNvGrpSpPr/>
          <p:nvPr/>
        </p:nvGrpSpPr>
        <p:grpSpPr>
          <a:xfrm>
            <a:off x="1110973" y="3526228"/>
            <a:ext cx="2414573" cy="667198"/>
            <a:chOff x="1971" y="545889"/>
            <a:chExt cx="2414573" cy="66719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913961E-C8A3-AB58-B41E-CE3FC8BA03BF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91A31E5F-5C1C-AB9C-4800-254FAB757918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Feature Branch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79F346-AC02-24CC-FCB6-91AAD02C186B}"/>
              </a:ext>
            </a:extLst>
          </p:cNvPr>
          <p:cNvGrpSpPr/>
          <p:nvPr/>
        </p:nvGrpSpPr>
        <p:grpSpPr>
          <a:xfrm>
            <a:off x="4512723" y="3526228"/>
            <a:ext cx="2414573" cy="667198"/>
            <a:chOff x="1971" y="545889"/>
            <a:chExt cx="2414573" cy="66719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44E4D73-70C3-011F-71DF-F654D1BFDBEA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0D1EA82E-D4F6-E1A1-E36D-F26339193BD5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Pull Request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86912E-94FE-D518-E931-8DE9C0F82D70}"/>
              </a:ext>
            </a:extLst>
          </p:cNvPr>
          <p:cNvGrpSpPr/>
          <p:nvPr/>
        </p:nvGrpSpPr>
        <p:grpSpPr>
          <a:xfrm>
            <a:off x="4488142" y="4653389"/>
            <a:ext cx="2414573" cy="667198"/>
            <a:chOff x="1971" y="545889"/>
            <a:chExt cx="2414573" cy="66719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46BDDD4-1E37-E1AF-CA18-9D3C938CDB56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2F37F608-DAA9-D088-BFDF-BAEB47A0712E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Automated Gates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18B5BED-0944-0696-40EF-EAB6952F2817}"/>
              </a:ext>
            </a:extLst>
          </p:cNvPr>
          <p:cNvGrpSpPr/>
          <p:nvPr/>
        </p:nvGrpSpPr>
        <p:grpSpPr>
          <a:xfrm>
            <a:off x="7865311" y="3542222"/>
            <a:ext cx="2414573" cy="667198"/>
            <a:chOff x="1971" y="545889"/>
            <a:chExt cx="2414573" cy="667198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7F7AD4D8-EC95-E1B8-47E7-675E06BAD834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E59FFBA2-82A1-9663-9D6F-0071FD412550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Branch Protection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A175D2-251B-0672-F3FA-7CF7E5486426}"/>
              </a:ext>
            </a:extLst>
          </p:cNvPr>
          <p:cNvGrpSpPr/>
          <p:nvPr/>
        </p:nvGrpSpPr>
        <p:grpSpPr>
          <a:xfrm>
            <a:off x="7865311" y="4662266"/>
            <a:ext cx="2414573" cy="667198"/>
            <a:chOff x="1971" y="545889"/>
            <a:chExt cx="2414573" cy="66719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35799A4-FDDF-50D9-05F1-6F4F7590EAF5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6E137B10-E67E-3C72-D0A4-A7281D8DED62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Merge to Main Branch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785105-E1CC-5C0D-C905-1D4EC795C631}"/>
              </a:ext>
            </a:extLst>
          </p:cNvPr>
          <p:cNvGrpSpPr/>
          <p:nvPr/>
        </p:nvGrpSpPr>
        <p:grpSpPr>
          <a:xfrm>
            <a:off x="1110973" y="1719497"/>
            <a:ext cx="2414573" cy="1341027"/>
            <a:chOff x="1971" y="545889"/>
            <a:chExt cx="2414573" cy="667198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F82EC42-6325-A199-B12C-324C60112650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4E206F55-6487-5623-FEBD-B0AC8E4BF6F4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Identity Validation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Developer cryptographic verification for signed commits (GPG/SSH)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68353E-FA6E-891D-D501-C777AF1BDE2F}"/>
              </a:ext>
            </a:extLst>
          </p:cNvPr>
          <p:cNvGrpSpPr/>
          <p:nvPr/>
        </p:nvGrpSpPr>
        <p:grpSpPr>
          <a:xfrm>
            <a:off x="4490455" y="1748349"/>
            <a:ext cx="2414573" cy="1341027"/>
            <a:chOff x="1971" y="545889"/>
            <a:chExt cx="2414573" cy="66719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E91A0DF-4489-2903-8ACB-758B6FFBD9EE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21F1F8E1-DA58-1A65-2DC4-FCC2EB2AAC65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Validation Checks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Run automated CI security scans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B336D5C-38D1-2519-DDBE-0834B9B838CA}"/>
              </a:ext>
            </a:extLst>
          </p:cNvPr>
          <p:cNvGrpSpPr/>
          <p:nvPr/>
        </p:nvGrpSpPr>
        <p:grpSpPr>
          <a:xfrm>
            <a:off x="7865310" y="1748349"/>
            <a:ext cx="2414573" cy="1341027"/>
            <a:chOff x="1971" y="545889"/>
            <a:chExt cx="2414573" cy="66719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D044122-6F0E-D9C6-C660-B82A6E424A5F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440EA590-34CC-33DF-D8B9-0A49C3950064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Branch Protection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Enforce approvals before code can merge with the production branch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  <p:pic>
        <p:nvPicPr>
          <p:cNvPr id="49" name="Graphic 48" descr="Checkbox Checked with solid fill">
            <a:extLst>
              <a:ext uri="{FF2B5EF4-FFF2-40B4-BE49-F238E27FC236}">
                <a16:creationId xmlns:a16="http://schemas.microsoft.com/office/drawing/2014/main" id="{BEE22B33-075F-9D56-7200-57833A48C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5828" y="1835945"/>
            <a:ext cx="508246" cy="508246"/>
          </a:xfrm>
          <a:prstGeom prst="rect">
            <a:avLst/>
          </a:prstGeom>
        </p:spPr>
      </p:pic>
      <p:pic>
        <p:nvPicPr>
          <p:cNvPr id="51" name="Graphic 50" descr="Shield Tick with solid fill">
            <a:extLst>
              <a:ext uri="{FF2B5EF4-FFF2-40B4-BE49-F238E27FC236}">
                <a16:creationId xmlns:a16="http://schemas.microsoft.com/office/drawing/2014/main" id="{4F47B223-8090-D231-03C6-F259D1727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707" y="1813814"/>
            <a:ext cx="460521" cy="460521"/>
          </a:xfrm>
          <a:prstGeom prst="rect">
            <a:avLst/>
          </a:prstGeom>
        </p:spPr>
      </p:pic>
      <p:pic>
        <p:nvPicPr>
          <p:cNvPr id="55" name="Graphic 54" descr="Police male with solid fill">
            <a:extLst>
              <a:ext uri="{FF2B5EF4-FFF2-40B4-BE49-F238E27FC236}">
                <a16:creationId xmlns:a16="http://schemas.microsoft.com/office/drawing/2014/main" id="{D82196E9-91ED-1F62-91BB-C341CFF96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7490" y="1905801"/>
            <a:ext cx="368534" cy="368534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AA6CB0DF-CF8D-43A6-300A-098F77405341}"/>
              </a:ext>
            </a:extLst>
          </p:cNvPr>
          <p:cNvGrpSpPr/>
          <p:nvPr/>
        </p:nvGrpSpPr>
        <p:grpSpPr>
          <a:xfrm>
            <a:off x="1110973" y="4655119"/>
            <a:ext cx="2414573" cy="667198"/>
            <a:chOff x="1971" y="545889"/>
            <a:chExt cx="2414573" cy="667198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55BE48C-EEAC-2EC3-7F82-765AD2AA5797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B55A07F7-093D-4290-9385-730025F7BBDB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Cryptographic Commit Signing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993050"/>
            <a:ext cx="10460736" cy="1035828"/>
          </a:xfrm>
          <a:noFill/>
        </p:spPr>
        <p:txBody>
          <a:bodyPr>
            <a:noAutofit/>
          </a:bodyPr>
          <a:lstStyle/>
          <a:p>
            <a:r>
              <a:rPr lang="en-US" sz="5400" dirty="0"/>
              <a:t>Automated Security Testing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72488C-95CC-E0F6-94BF-F9E58F41CA76}"/>
              </a:ext>
            </a:extLst>
          </p:cNvPr>
          <p:cNvGrpSpPr/>
          <p:nvPr/>
        </p:nvGrpSpPr>
        <p:grpSpPr>
          <a:xfrm>
            <a:off x="1110973" y="2230775"/>
            <a:ext cx="3225053" cy="2311728"/>
            <a:chOff x="1971" y="545889"/>
            <a:chExt cx="2414573" cy="66719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A445178-06D1-2CCF-F78E-B47DC7CDCDCD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BDC18437-F0F3-509C-82B3-C46DE90A1447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SAST Analysis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Static Application Security Testing scans the source code during commits to detect vulnerability patters early in the SDLC.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DE9FD6-2D1C-6D73-1E45-26202FC7E641}"/>
              </a:ext>
            </a:extLst>
          </p:cNvPr>
          <p:cNvGrpSpPr/>
          <p:nvPr/>
        </p:nvGrpSpPr>
        <p:grpSpPr>
          <a:xfrm>
            <a:off x="4495665" y="2230775"/>
            <a:ext cx="3225053" cy="2311728"/>
            <a:chOff x="1971" y="545889"/>
            <a:chExt cx="2414573" cy="66719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9A73605-9181-336B-A0B3-7DA061776341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833E9C70-3E47-95DC-DD6A-F8A915D2C471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SCA Scanning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Software Composition Analysis inspects 3</a:t>
              </a:r>
              <a:r>
                <a:rPr lang="en-US" sz="1400" baseline="30000" dirty="0">
                  <a:solidFill>
                    <a:schemeClr val="accent2">
                      <a:lumMod val="25000"/>
                    </a:schemeClr>
                  </a:solidFill>
                </a:rPr>
                <a:t>rd</a:t>
              </a: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 party open-source libraries for known vulnerabilities and license compliance risks.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FBB630-113C-7203-3D86-5DD836A6F05C}"/>
              </a:ext>
            </a:extLst>
          </p:cNvPr>
          <p:cNvGrpSpPr/>
          <p:nvPr/>
        </p:nvGrpSpPr>
        <p:grpSpPr>
          <a:xfrm>
            <a:off x="7880357" y="2230775"/>
            <a:ext cx="3225053" cy="2311728"/>
            <a:chOff x="1971" y="545889"/>
            <a:chExt cx="2414573" cy="6671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6D7BDB9-0C04-C04C-8858-8ED447333B89}"/>
                </a:ext>
              </a:extLst>
            </p:cNvPr>
            <p:cNvSpPr/>
            <p:nvPr/>
          </p:nvSpPr>
          <p:spPr>
            <a:xfrm>
              <a:off x="1971" y="545889"/>
              <a:ext cx="2414573" cy="667198"/>
            </a:xfrm>
            <a:prstGeom prst="roundRect">
              <a:avLst/>
            </a:prstGeom>
            <a:solidFill>
              <a:schemeClr val="accent3">
                <a:alpha val="90000"/>
              </a:schemeClr>
            </a:solidFill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C08AEB98-F0CD-B4FB-68A6-2752CDA2AC07}"/>
                </a:ext>
              </a:extLst>
            </p:cNvPr>
            <p:cNvSpPr txBox="1"/>
            <p:nvPr/>
          </p:nvSpPr>
          <p:spPr>
            <a:xfrm>
              <a:off x="34541" y="578459"/>
              <a:ext cx="2349433" cy="60205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60020" tIns="160020" rIns="160020" bIns="160020" numCol="1" spcCol="1270" anchor="ctr" anchorCtr="0">
              <a:noAutofit/>
            </a:bodyPr>
            <a:lstStyle/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accent2">
                      <a:lumMod val="25000"/>
                    </a:schemeClr>
                  </a:solidFill>
                  <a:latin typeface="+mn-lt"/>
                </a:rPr>
                <a:t>Shift Left</a:t>
              </a:r>
            </a:p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dirty="0">
                  <a:solidFill>
                    <a:schemeClr val="accent2">
                      <a:lumMod val="25000"/>
                    </a:schemeClr>
                  </a:solidFill>
                </a:rPr>
                <a:t>Embedding automated scans into pre-commit and CI gates provides instant developer feedback and reduces remediation costs.</a:t>
              </a:r>
              <a:endParaRPr lang="en-US" sz="1400" kern="1200" dirty="0">
                <a:solidFill>
                  <a:schemeClr val="accent2">
                    <a:lumMod val="25000"/>
                  </a:schemeClr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50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6529" y="943897"/>
            <a:ext cx="7521677" cy="1917290"/>
          </a:xfrm>
          <a:noFill/>
        </p:spPr>
        <p:txBody>
          <a:bodyPr>
            <a:noAutofit/>
          </a:bodyPr>
          <a:lstStyle/>
          <a:p>
            <a:r>
              <a:rPr lang="en-US" sz="5400" dirty="0"/>
              <a:t>Governance to Ensure Code Integrity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B97AC41-8371-ABA1-AB94-5513C9E71BEC}"/>
              </a:ext>
            </a:extLst>
          </p:cNvPr>
          <p:cNvSpPr txBox="1">
            <a:spLocks/>
          </p:cNvSpPr>
          <p:nvPr/>
        </p:nvSpPr>
        <p:spPr>
          <a:xfrm>
            <a:off x="4306529" y="3254477"/>
            <a:ext cx="7521677" cy="230074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Protecting the main branch ensures that no unvetted or malicious code will enter the production workflow.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Enforcing mandatory pull requests and approval rules will ensure oversight prior to merging branches.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3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232" y="365760"/>
            <a:ext cx="9371616" cy="1246730"/>
          </a:xfrm>
          <a:noFill/>
        </p:spPr>
        <p:txBody>
          <a:bodyPr>
            <a:noAutofit/>
          </a:bodyPr>
          <a:lstStyle/>
          <a:p>
            <a:r>
              <a:rPr lang="en-US"/>
              <a:t>Preventing Secret Exposures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9C3DE9-6C11-9AF4-7E23-0433E48635A2}"/>
              </a:ext>
            </a:extLst>
          </p:cNvPr>
          <p:cNvSpPr txBox="1">
            <a:spLocks/>
          </p:cNvSpPr>
          <p:nvPr/>
        </p:nvSpPr>
        <p:spPr>
          <a:xfrm>
            <a:off x="1985232" y="1956619"/>
            <a:ext cx="9548007" cy="322036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Eliminate Hardcoded Credentials: </a:t>
            </a:r>
            <a:r>
              <a:rPr lang="en-US" dirty="0"/>
              <a:t>Ensuring Developers don’t inadvertently commit API tokens, DB passwords, SSH keys, or certificates into git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Pre-Commit Hooks: </a:t>
            </a:r>
            <a:r>
              <a:rPr lang="en-US" dirty="0"/>
              <a:t>Intercept local commits containing credential patterns before pushing to remote servers.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Automated Repository Scans: </a:t>
            </a:r>
            <a:r>
              <a:rPr lang="en-US" dirty="0"/>
              <a:t>Continuously monitor commit histories to immediately flag and revoke leaked keys.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Secret Vaults: </a:t>
            </a:r>
            <a:r>
              <a:rPr lang="en-US" dirty="0"/>
              <a:t>Centralized key management tools.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63" y="1550953"/>
            <a:ext cx="9912096" cy="117258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Online Resources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96B251-EE94-11B8-BC70-056A7806B469}"/>
              </a:ext>
            </a:extLst>
          </p:cNvPr>
          <p:cNvSpPr txBox="1">
            <a:spLocks/>
          </p:cNvSpPr>
          <p:nvPr/>
        </p:nvSpPr>
        <p:spPr>
          <a:xfrm>
            <a:off x="558963" y="3018503"/>
            <a:ext cx="7336339" cy="340196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 kern="1200" cap="all" baseline="0">
                <a:solidFill>
                  <a:schemeClr val="accent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Checkmarx</a:t>
            </a:r>
            <a:r>
              <a:rPr lang="en-US" sz="1800" dirty="0"/>
              <a:t>. (June 11, 2025)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Repository Health Monitoring Part 2: Essential Practices for Secure Repositories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Harness. (February 13, 2025)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What Is Code Repository Security?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Snyk</a:t>
            </a:r>
            <a:r>
              <a:rPr lang="en-US" sz="1800" dirty="0"/>
              <a:t>. (n.d.)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Securing Source Code in Repositories is Essential: How To Get Started</a:t>
            </a: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IBM. (n.d.).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Shift-left security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639</TotalTime>
  <Words>427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Custom</vt:lpstr>
      <vt:lpstr>Security Controls in Shared Source Code Repositories</vt:lpstr>
      <vt:lpstr>Zero Trust</vt:lpstr>
      <vt:lpstr>DevOps Security Practices</vt:lpstr>
      <vt:lpstr>Repository Security Control Pipeline</vt:lpstr>
      <vt:lpstr>Automated Security Testing</vt:lpstr>
      <vt:lpstr>Governance to Ensure Code Integrity</vt:lpstr>
      <vt:lpstr>Preventing Secret Exposures</vt:lpstr>
      <vt:lpstr>Online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Morrow</dc:creator>
  <cp:lastModifiedBy>Justin Morrow</cp:lastModifiedBy>
  <cp:revision>60</cp:revision>
  <dcterms:created xsi:type="dcterms:W3CDTF">2026-07-25T17:34:07Z</dcterms:created>
  <dcterms:modified xsi:type="dcterms:W3CDTF">2026-07-26T04:17:32Z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