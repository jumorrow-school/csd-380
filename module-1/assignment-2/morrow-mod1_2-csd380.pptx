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8" r:id="rId5"/>
    <p:sldId id="292" r:id="rId6"/>
    <p:sldId id="284" r:id="rId7"/>
    <p:sldId id="297" r:id="rId8"/>
    <p:sldId id="384" r:id="rId9"/>
    <p:sldId id="399" r:id="rId10"/>
    <p:sldId id="383" r:id="rId11"/>
    <p:sldId id="294" r:id="rId12"/>
    <p:sldId id="295" r:id="rId13"/>
    <p:sldId id="29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C6E3"/>
    <a:srgbClr val="A9E26F"/>
    <a:srgbClr val="1A365D"/>
    <a:srgbClr val="38B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2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-9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6/6/2026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er Slid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/>
          <a:lstStyle>
            <a:lvl1pPr algn="r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/>
          <a:lstStyle>
            <a:lvl1pPr algn="l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307689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815037"/>
            <a:ext cx="5472000" cy="33769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308214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812214"/>
            <a:ext cx="5472113" cy="337903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 descr="Accent block left">
            <a:extLst>
              <a:ext uri="{FF2B5EF4-FFF2-40B4-BE49-F238E27FC236}">
                <a16:creationId xmlns:a16="http://schemas.microsoft.com/office/drawing/2014/main" id="{BBC0CAF5-0DE6-4BEA-824E-124A54A76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 descr="Accent bar right&#10;">
            <a:extLst>
              <a:ext uri="{FF2B5EF4-FFF2-40B4-BE49-F238E27FC236}">
                <a16:creationId xmlns:a16="http://schemas.microsoft.com/office/drawing/2014/main" id="{ED008080-B2F5-441A-8B15-30AE86BB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7760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B95064-E6BF-43CD-ACBD-6363E8D9B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114627"/>
            <a:ext cx="5956300" cy="1095056"/>
          </a:xfr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266700" lvl="0" indent="-26670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2563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08000"/>
            <a:ext cx="11328000" cy="5183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6207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1E0B79-3CC8-4DCF-8AEC-AC43BC9A3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886" y="1007250"/>
            <a:ext cx="5460114" cy="5169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546508-E26C-46CD-8939-D20E71BF4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007250"/>
            <a:ext cx="5448115" cy="5169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555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01623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 descr="Accent bar right&#10;">
            <a:extLst>
              <a:ext uri="{FF2B5EF4-FFF2-40B4-BE49-F238E27FC236}">
                <a16:creationId xmlns:a16="http://schemas.microsoft.com/office/drawing/2014/main" id="{3E8A46E0-47C2-4441-B7DD-F621A80F1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101623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902C307-6561-4E11-9899-1F34830A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24128"/>
            <a:ext cx="5448115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D73439B-6B1B-47C5-B2B0-409015FB3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086" y="1224128"/>
            <a:ext cx="5447914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12AC6878-44C6-4445-A225-70C0DC482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9886" y="1955731"/>
            <a:ext cx="5447914" cy="42339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D675DA8-374F-4915-973A-53612A41F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943031"/>
            <a:ext cx="5447914" cy="42466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531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B68CA9-AC4C-4D15-9BA1-A9F1AC56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9B24D8A-D8A5-4F57-A260-A4CF75FCB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432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E50A411-2E68-4F4D-B4BC-62E87C633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2FBF39A8-0BD5-48FD-9993-F595D4F72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0633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3A426-6D4A-4D91-ACD6-A2C25BAE44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4370" y="2033588"/>
            <a:ext cx="8863262" cy="2790825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243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04335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531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6957180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41292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11760000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z="1200" b="0" i="1" u="none" strike="noStrike" cap="none" dirty="0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 Source: The DevOps Handbook, Part I Synthesis (pp. 49-58)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0"/>
            <a:ext cx="11760000" cy="684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3" r:id="rId18"/>
    <p:sldLayoutId id="2147483674" r:id="rId19"/>
    <p:sldLayoutId id="2147483654" r:id="rId20"/>
    <p:sldLayoutId id="2147483655" r:id="rId21"/>
    <p:sldLayoutId id="2147483675" r:id="rId22"/>
    <p:sldLayoutId id="2147483672" r:id="rId23"/>
    <p:sldLayoutId id="2147483683" r:id="rId24"/>
    <p:sldLayoutId id="2147483684" r:id="rId25"/>
    <p:sldLayoutId id="2147483687" r:id="rId2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etdx.com/blog/dora-metrics/" TargetMode="External"/><Relationship Id="rId3" Type="http://schemas.openxmlformats.org/officeDocument/2006/relationships/hyperlink" Target="https://octopus.com/blog/definitions-of-lead-time" TargetMode="External"/><Relationship Id="rId7" Type="http://schemas.openxmlformats.org/officeDocument/2006/relationships/hyperlink" Target="https://axify.io/blog/deployment-time" TargetMode="External"/><Relationship Id="rId2" Type="http://schemas.openxmlformats.org/officeDocument/2006/relationships/hyperlink" Target="https://bdfinst.medium.com/5-minute-devops-the-strategic-reasons-for-devsecops-a1bfd018db36" TargetMode="External"/><Relationship Id="rId1" Type="http://schemas.openxmlformats.org/officeDocument/2006/relationships/slideLayout" Target="../slideLayouts/slideLayout20.xml"/><Relationship Id="rId6" Type="http://schemas.openxmlformats.org/officeDocument/2006/relationships/hyperlink" Target="https://blog.stackademic.com/spring-boot-is-becoming-a-modular-monolith-811f43ddd058" TargetMode="External"/><Relationship Id="rId5" Type="http://schemas.openxmlformats.org/officeDocument/2006/relationships/hyperlink" Target="https://humanitec.com/blog/lead-time-a-key-metric-in-devops" TargetMode="External"/><Relationship Id="rId4" Type="http://schemas.openxmlformats.org/officeDocument/2006/relationships/hyperlink" Target="https://learn.microsoft.com/en-us/azure/devops/report/dashboards/cycle-time-and-lead-tim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/>
          <a:lstStyle/>
          <a:p>
            <a:r>
              <a:rPr lang="en-US" sz="5400" dirty="0"/>
              <a:t>The Technology Value Stream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B2F5EA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Defining Lead Time vs Processing Time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B2F5EA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Taking Deployment Lead Times from Months to Minutes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C1DE0A-7865-466B-B5D7-781C92357026}"/>
              </a:ext>
            </a:extLst>
          </p:cNvPr>
          <p:cNvSpPr txBox="1"/>
          <p:nvPr/>
        </p:nvSpPr>
        <p:spPr>
          <a:xfrm>
            <a:off x="10284923" y="4131288"/>
            <a:ext cx="1402741" cy="1292071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2000" b="1" i="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J. Morrow</a:t>
            </a:r>
          </a:p>
          <a:p>
            <a:pPr algn="ctr">
              <a:lnSpc>
                <a:spcPts val="1000"/>
              </a:lnSpc>
            </a:pPr>
            <a:endParaRPr lang="en-US" sz="2000" b="1" i="0" spc="-100" baseline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ctr">
              <a:lnSpc>
                <a:spcPts val="1000"/>
              </a:lnSpc>
            </a:pPr>
            <a:br>
              <a:rPr lang="en-US" sz="2400" b="1" i="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n-US" b="0" i="0" spc="14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06/06/26</a:t>
            </a:r>
          </a:p>
          <a:p>
            <a:pPr algn="ctr">
              <a:lnSpc>
                <a:spcPts val="1000"/>
              </a:lnSpc>
            </a:pPr>
            <a:endParaRPr lang="en-US" b="0" i="0" spc="140" baseline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ctr">
              <a:lnSpc>
                <a:spcPts val="1000"/>
              </a:lnSpc>
            </a:pPr>
            <a:endParaRPr lang="en-US" spc="14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ctr">
              <a:lnSpc>
                <a:spcPts val="1000"/>
              </a:lnSpc>
            </a:pPr>
            <a:r>
              <a:rPr lang="en-US" b="0" i="0" spc="14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CSD-380</a:t>
            </a:r>
          </a:p>
          <a:p>
            <a:pPr algn="ctr">
              <a:lnSpc>
                <a:spcPts val="1000"/>
              </a:lnSpc>
            </a:pPr>
            <a:br>
              <a:rPr lang="en-US" b="0" i="0" spc="14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n-US" b="0" i="0" spc="14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Mod.1.2</a:t>
            </a: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3932037" cy="1411276"/>
          </a:xfrm>
        </p:spPr>
        <p:txBody>
          <a:bodyPr anchor="b">
            <a:normAutofit/>
          </a:bodyPr>
          <a:lstStyle/>
          <a:p>
            <a:r>
              <a:rPr lang="en-US" sz="4000" dirty="0"/>
              <a:t>Building the Strategic Capability</a:t>
            </a:r>
          </a:p>
        </p:txBody>
      </p:sp>
      <p:pic>
        <p:nvPicPr>
          <p:cNvPr id="11" name="Picture Placeholder 10" descr="Desk with computer, phone, books, etc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216"/>
          <a:stretch>
            <a:fillRect/>
          </a:stretch>
        </p:blipFill>
        <p:spPr>
          <a:xfrm>
            <a:off x="4788816" y="432001"/>
            <a:ext cx="6971184" cy="5429050"/>
          </a:xfrm>
          <a:noFill/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130552"/>
            <a:ext cx="3932237" cy="3730499"/>
          </a:xfrm>
        </p:spPr>
        <p:txBody>
          <a:bodyPr>
            <a:normAutofit/>
          </a:bodyPr>
          <a:lstStyle/>
          <a:p>
            <a:r>
              <a:rPr lang="en-US" sz="3200" i="1" dirty="0"/>
              <a:t>“Improving daily work is more important than doing daily work.” – Gene Kim</a:t>
            </a:r>
            <a:endParaRPr lang="en-US" sz="3200" dirty="0"/>
          </a:p>
        </p:txBody>
      </p:sp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9FED3407-B9D1-7C20-434C-E637FF849023}"/>
              </a:ext>
            </a:extLst>
          </p:cNvPr>
          <p:cNvSpPr txBox="1">
            <a:spLocks/>
          </p:cNvSpPr>
          <p:nvPr/>
        </p:nvSpPr>
        <p:spPr>
          <a:xfrm>
            <a:off x="11760000" y="6377023"/>
            <a:ext cx="432000" cy="432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LEAD TIME VS. PROCESSING TIME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174" y="2442934"/>
            <a:ext cx="4845826" cy="360000"/>
          </a:xfrm>
        </p:spPr>
        <p:txBody>
          <a:bodyPr/>
          <a:lstStyle/>
          <a:p>
            <a:r>
              <a:rPr lang="en-US" dirty="0"/>
              <a:t>Lead Time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950768"/>
            <a:ext cx="5472000" cy="2194694"/>
          </a:xfrm>
        </p:spPr>
        <p:txBody>
          <a:bodyPr/>
          <a:lstStyle/>
          <a:p>
            <a:r>
              <a:rPr lang="en-US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Starts when the </a:t>
            </a:r>
            <a:r>
              <a:rPr lang="en-US" b="1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customer request</a:t>
            </a:r>
            <a:r>
              <a:rPr lang="en-US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is made and ends when the request is fulfilled.</a:t>
            </a:r>
          </a:p>
          <a:p>
            <a:r>
              <a:rPr lang="en-US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It represents the total elapsed time as perceived by the customer.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967728" y="2443459"/>
            <a:ext cx="4804271" cy="358775"/>
          </a:xfrm>
        </p:spPr>
        <p:txBody>
          <a:bodyPr/>
          <a:lstStyle/>
          <a:p>
            <a:r>
              <a:rPr lang="en-US" dirty="0"/>
              <a:t>Processing Time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947459"/>
            <a:ext cx="5472113" cy="2196041"/>
          </a:xfrm>
        </p:spPr>
        <p:txBody>
          <a:bodyPr/>
          <a:lstStyle/>
          <a:p>
            <a:r>
              <a:rPr lang="en-US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Known as "touch time." The clock starts only when </a:t>
            </a:r>
            <a:r>
              <a:rPr lang="en-US" b="1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work begins</a:t>
            </a:r>
            <a:r>
              <a:rPr lang="en-US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on the request.</a:t>
            </a:r>
          </a:p>
          <a:p>
            <a:r>
              <a:rPr lang="en-US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It doesn’t count the time the work spends waiting in queues</a:t>
            </a:r>
            <a:r>
              <a:rPr lang="en-US" dirty="0"/>
              <a:t>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2" name="Graphic 21" descr="Clock with solid fill">
            <a:extLst>
              <a:ext uri="{FF2B5EF4-FFF2-40B4-BE49-F238E27FC236}">
                <a16:creationId xmlns:a16="http://schemas.microsoft.com/office/drawing/2014/main" id="{0D36864D-6197-F5BD-77CB-E1B933CCE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944" y="2224581"/>
            <a:ext cx="652270" cy="6522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Graphic 24" descr="Continuous Improvement with solid fill">
            <a:extLst>
              <a:ext uri="{FF2B5EF4-FFF2-40B4-BE49-F238E27FC236}">
                <a16:creationId xmlns:a16="http://schemas.microsoft.com/office/drawing/2014/main" id="{41E0D3D7-C1B3-0301-E9FF-D543AD4D6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8007" y="2172847"/>
            <a:ext cx="767761" cy="7677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Hand writing on post-it note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869795"/>
            <a:ext cx="6641900" cy="1124345"/>
          </a:xfrm>
        </p:spPr>
        <p:txBody>
          <a:bodyPr/>
          <a:lstStyle/>
          <a:p>
            <a:r>
              <a:rPr lang="en-US" sz="5400" dirty="0"/>
              <a:t>Hidden Cost of Queues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algn="ctr"/>
            <a:r>
              <a:rPr lang="en-US" b="1" dirty="0"/>
              <a:t>90% Lead Time Waste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Waiting vs. Working</a:t>
            </a:r>
          </a:p>
          <a:p>
            <a:r>
              <a:rPr lang="en-US" dirty="0"/>
              <a:t>In most traditional organizations, the actual work (processing time) is a tiny fraction of the total lead time. </a:t>
            </a:r>
          </a:p>
          <a:p>
            <a:r>
              <a:rPr lang="en-US" dirty="0"/>
              <a:t>Delays do not come from the work itself, but from the idle time where tickets sit in queues waiting for approvals, environments, or manual testing.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0" descr="A person with his hand on his chin">
            <a:extLst>
              <a:ext uri="{FF2B5EF4-FFF2-40B4-BE49-F238E27FC236}">
                <a16:creationId xmlns:a16="http://schemas.microsoft.com/office/drawing/2014/main" id="{7102B98C-FA03-0CC6-82E7-DFF246602E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" r="172"/>
          <a:stretch/>
        </p:blipFill>
        <p:spPr>
          <a:xfrm>
            <a:off x="-1" y="-3709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5D3917-072D-B98F-53A4-46496DCB7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788" y="353962"/>
            <a:ext cx="4786877" cy="983225"/>
          </a:xfrm>
        </p:spPr>
        <p:txBody>
          <a:bodyPr>
            <a:normAutofit/>
          </a:bodyPr>
          <a:lstStyle/>
          <a:p>
            <a:r>
              <a:rPr lang="en-US" sz="4000" dirty="0"/>
              <a:t>The Struggle: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B4740A4-A1D9-E9B5-6838-073E1369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9788" y="1517075"/>
            <a:ext cx="2545003" cy="555618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(Months of Delay)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C1B1B9-02C9-EF1E-AFBE-E40015F082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9788" y="2341261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Monolithic Systems: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8F44E43-BD27-EF72-1581-53AA4AF310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789" y="2753248"/>
            <a:ext cx="3852296" cy="541468"/>
          </a:xfrm>
        </p:spPr>
        <p:txBody>
          <a:bodyPr/>
          <a:lstStyle/>
          <a:p>
            <a:r>
              <a:rPr lang="en-US" dirty="0"/>
              <a:t>Tightly coupled architectures prevent independent deployment.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5E210F-6B8D-736F-B141-2B3CBE613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99788" y="3499277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Manual Testing: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5DD8B99-A215-EB84-183A-F3B1E73A45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99788" y="3918570"/>
            <a:ext cx="3860546" cy="529133"/>
          </a:xfrm>
        </p:spPr>
        <p:txBody>
          <a:bodyPr/>
          <a:lstStyle/>
          <a:p>
            <a:r>
              <a:rPr lang="en-US" dirty="0"/>
              <a:t>Heavy reliance on manual QA cycles that take weeks.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9847AB5-5442-A3C4-87F1-C737DF1C6D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99788" y="4564818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Approval Gates: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BF28C9E-02B3-7B82-54FB-BB732FF1E9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99788" y="4975138"/>
            <a:ext cx="3860546" cy="492974"/>
          </a:xfrm>
        </p:spPr>
        <p:txBody>
          <a:bodyPr/>
          <a:lstStyle/>
          <a:p>
            <a:r>
              <a:rPr lang="en-US" dirty="0"/>
              <a:t>Multiple bureaucratic layers and Change Review Boards.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A1C40A-BC04-C14E-7867-E3D7B159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84061" y="0"/>
            <a:ext cx="2959129" cy="6871447"/>
            <a:chOff x="3084061" y="0"/>
            <a:chExt cx="2959129" cy="687144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5521D96-1220-9A5F-FB15-764C14CD87A4}"/>
                </a:ext>
              </a:extLst>
            </p:cNvPr>
            <p:cNvSpPr/>
            <p:nvPr/>
          </p:nvSpPr>
          <p:spPr>
            <a:xfrm rot="10800000">
              <a:off x="3498189" y="177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7359AB-4FC7-AF1F-096F-69BD733B8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4061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7F0FC611-2780-0238-655E-09D5C8D45949}"/>
              </a:ext>
            </a:extLst>
          </p:cNvPr>
          <p:cNvSpPr txBox="1">
            <a:spLocks/>
          </p:cNvSpPr>
          <p:nvPr/>
        </p:nvSpPr>
        <p:spPr>
          <a:xfrm>
            <a:off x="6605884" y="5567610"/>
            <a:ext cx="4796710" cy="401939"/>
          </a:xfrm>
          <a:prstGeom prst="rect">
            <a:avLst/>
          </a:prstGeom>
        </p:spPr>
        <p:txBody>
          <a:bodyPr vert="horz" lIns="9144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Courier New" panose="02070309020205020404" pitchFamily="49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7432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7432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7432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Scarce Environments:</a:t>
            </a:r>
          </a:p>
        </p:txBody>
      </p:sp>
      <p:sp>
        <p:nvSpPr>
          <p:cNvPr id="8" name="Text Placeholder 24">
            <a:extLst>
              <a:ext uri="{FF2B5EF4-FFF2-40B4-BE49-F238E27FC236}">
                <a16:creationId xmlns:a16="http://schemas.microsoft.com/office/drawing/2014/main" id="{573BF9B9-5D4F-058F-8E21-5C4B667F7159}"/>
              </a:ext>
            </a:extLst>
          </p:cNvPr>
          <p:cNvSpPr txBox="1">
            <a:spLocks/>
          </p:cNvSpPr>
          <p:nvPr/>
        </p:nvSpPr>
        <p:spPr>
          <a:xfrm>
            <a:off x="6605884" y="5977930"/>
            <a:ext cx="3860546" cy="526108"/>
          </a:xfrm>
          <a:prstGeom prst="rect">
            <a:avLst/>
          </a:prstGeom>
        </p:spPr>
        <p:txBody>
          <a:bodyPr vert="horz" lIns="9144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Long wait times for integration and test environments.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98E36-BCF8-B27A-C9D2-1AF56F0A3E04}"/>
              </a:ext>
            </a:extLst>
          </p:cNvPr>
          <p:cNvSpPr txBox="1">
            <a:spLocks/>
          </p:cNvSpPr>
          <p:nvPr/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US" smtClean="0">
                <a:solidFill>
                  <a:schemeClr val="bg1"/>
                </a:solidFill>
              </a:rPr>
              <a:pPr/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98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086C-1078-C331-F208-AE26E70E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2A62CA-B58D-9269-FF78-F8D231E66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Our DevOps Ideal</a:t>
            </a:r>
          </a:p>
        </p:txBody>
      </p:sp>
      <p:pic>
        <p:nvPicPr>
          <p:cNvPr id="6" name="Picture Placeholder 5" descr="A person and person looking at a computer screen">
            <a:extLst>
              <a:ext uri="{FF2B5EF4-FFF2-40B4-BE49-F238E27FC236}">
                <a16:creationId xmlns:a16="http://schemas.microsoft.com/office/drawing/2014/main" id="{B051C794-48B9-AA6C-D5E2-40034DDEE42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27" r="127"/>
          <a:stretch/>
        </p:blipFill>
        <p:spPr>
          <a:xfrm>
            <a:off x="-29499" y="-2236"/>
            <a:ext cx="6814124" cy="687109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2653F-446F-7946-C533-85A9560E3F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70326" y="3748959"/>
            <a:ext cx="4786878" cy="594441"/>
          </a:xfrm>
        </p:spPr>
        <p:txBody>
          <a:bodyPr>
            <a:normAutofit/>
          </a:bodyPr>
          <a:lstStyle/>
          <a:p>
            <a:r>
              <a:rPr lang="en-US" sz="1800" b="1" dirty="0"/>
              <a:t>Deployment Lead Times Measured in Minutes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B6A7F43-1EF4-5F38-7468-65802178A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EC6338B-15FF-4E7A-48EF-F9489E49B773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1A04A8C-09C3-BF8F-B566-C1DDC22992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90651A45-BB4E-5C56-1E09-1F24D574DA4F}"/>
              </a:ext>
            </a:extLst>
          </p:cNvPr>
          <p:cNvSpPr txBox="1">
            <a:spLocks/>
          </p:cNvSpPr>
          <p:nvPr/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US" smtClean="0">
                <a:solidFill>
                  <a:schemeClr val="bg1"/>
                </a:solidFill>
              </a:rPr>
              <a:pPr/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08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7EE4-0F77-0173-AC5A-9FBAE6AE8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88" y="362641"/>
            <a:ext cx="5797550" cy="559537"/>
          </a:xfrm>
        </p:spPr>
        <p:txBody>
          <a:bodyPr/>
          <a:lstStyle/>
          <a:p>
            <a:pPr algn="ctr"/>
            <a:r>
              <a:rPr lang="en-US" dirty="0"/>
              <a:t>Architecture for Speed</a:t>
            </a:r>
          </a:p>
        </p:txBody>
      </p:sp>
      <p:pic>
        <p:nvPicPr>
          <p:cNvPr id="14" name="Picture Placeholder 13" descr="A hand holding a wire">
            <a:extLst>
              <a:ext uri="{FF2B5EF4-FFF2-40B4-BE49-F238E27FC236}">
                <a16:creationId xmlns:a16="http://schemas.microsoft.com/office/drawing/2014/main" id="{8663049F-9392-3719-E4E8-8D7D5659E89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5747" r="5747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13DF1B8-48E1-A0F1-C69D-7B671CD1D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D9C41A-6441-7A5C-EAE1-D96C71F24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8E799DC-75DD-9CAC-A0C9-96A9CD6069BF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4"/>
          <a:stretch>
            <a:fillRect/>
          </a:stretch>
        </p:blipFill>
        <p:spPr>
          <a:xfrm>
            <a:off x="670487" y="1046133"/>
            <a:ext cx="5797550" cy="3164496"/>
          </a:xfrm>
          <a:prstGeom prst="rect">
            <a:avLst/>
          </a:prstGeom>
        </p:spPr>
      </p:pic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0CF91978-18E7-A368-C9AB-18FF0E29FF3B}"/>
              </a:ext>
            </a:extLst>
          </p:cNvPr>
          <p:cNvSpPr txBox="1">
            <a:spLocks/>
          </p:cNvSpPr>
          <p:nvPr/>
        </p:nvSpPr>
        <p:spPr>
          <a:xfrm>
            <a:off x="861594" y="4276440"/>
            <a:ext cx="5472000" cy="2493815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Traditional Monolith (Tightly Coupled)</a:t>
            </a:r>
          </a:p>
          <a:p>
            <a:pPr lvl="1"/>
            <a:r>
              <a:rPr lang="en-US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Failures are global and contained; one small error can break the entire system.</a:t>
            </a:r>
          </a:p>
          <a:p>
            <a:r>
              <a:rPr lang="en-US" b="1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Modular Monolith (Loosely Coupled, Structured)</a:t>
            </a:r>
          </a:p>
          <a:p>
            <a:pPr lvl="1"/>
            <a:r>
              <a:rPr lang="en-US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Small teams work with high autonomy</a:t>
            </a:r>
          </a:p>
          <a:p>
            <a:pPr lvl="1"/>
            <a:r>
              <a:rPr lang="en-US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Continually checking small code changes into version control repositories daily; Automated flows and fast feedback result in high confidence</a:t>
            </a:r>
          </a:p>
          <a:p>
            <a:pPr lvl="1"/>
            <a:r>
              <a:rPr lang="en-US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Failures are isolated and easily corrected</a:t>
            </a:r>
            <a:endParaRPr lang="en-US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23E289D3-0874-E863-ECE8-8BFA4958F8FB}"/>
              </a:ext>
            </a:extLst>
          </p:cNvPr>
          <p:cNvSpPr txBox="1">
            <a:spLocks/>
          </p:cNvSpPr>
          <p:nvPr/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US" smtClean="0">
                <a:solidFill>
                  <a:schemeClr val="bg1"/>
                </a:solidFill>
              </a:rPr>
              <a:pPr/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609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Performance Benchmark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D0F75-42B5-4960-8C3A-291285872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/>
          <a:lstStyle/>
          <a:p>
            <a:r>
              <a:rPr lang="en-US" dirty="0"/>
              <a:t>Shorter lead times correlate with higher organizational agility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5" name="Google Shape;213;p21">
            <a:extLst>
              <a:ext uri="{FF2B5EF4-FFF2-40B4-BE49-F238E27FC236}">
                <a16:creationId xmlns:a16="http://schemas.microsoft.com/office/drawing/2014/main" id="{75600411-2180-30D3-CAB7-AF7BAD66038B}"/>
              </a:ext>
            </a:extLst>
          </p:cNvPr>
          <p:cNvGrpSpPr/>
          <p:nvPr/>
        </p:nvGrpSpPr>
        <p:grpSpPr>
          <a:xfrm>
            <a:off x="523875" y="1651175"/>
            <a:ext cx="10668000" cy="3429000"/>
            <a:chOff x="0" y="0"/>
            <a:chExt cx="10668000" cy="3429000"/>
          </a:xfrm>
        </p:grpSpPr>
        <p:sp>
          <p:nvSpPr>
            <p:cNvPr id="6" name="Google Shape;214;p21">
              <a:extLst>
                <a:ext uri="{FF2B5EF4-FFF2-40B4-BE49-F238E27FC236}">
                  <a16:creationId xmlns:a16="http://schemas.microsoft.com/office/drawing/2014/main" id="{D3951671-14C4-4F77-F283-8D76CA61DC2A}"/>
                </a:ext>
              </a:extLst>
            </p:cNvPr>
            <p:cNvSpPr/>
            <p:nvPr/>
          </p:nvSpPr>
          <p:spPr>
            <a:xfrm>
              <a:off x="0" y="0"/>
              <a:ext cx="10668000" cy="3429000"/>
            </a:xfrm>
            <a:prstGeom prst="roundRect">
              <a:avLst>
                <a:gd name="adj" fmla="val 3333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" name="Google Shape;215;p21">
              <a:extLst>
                <a:ext uri="{FF2B5EF4-FFF2-40B4-BE49-F238E27FC236}">
                  <a16:creationId xmlns:a16="http://schemas.microsoft.com/office/drawing/2014/main" id="{6DB60E0C-1A4F-8F57-E172-CDD614CDB8BB}"/>
                </a:ext>
              </a:extLst>
            </p:cNvPr>
            <p:cNvGrpSpPr/>
            <p:nvPr/>
          </p:nvGrpSpPr>
          <p:grpSpPr>
            <a:xfrm>
              <a:off x="178089" y="285750"/>
              <a:ext cx="10108911" cy="571500"/>
              <a:chOff x="-202911" y="0"/>
              <a:chExt cx="10108911" cy="571500"/>
            </a:xfrm>
          </p:grpSpPr>
          <p:sp>
            <p:nvSpPr>
              <p:cNvPr id="26" name="Google Shape;216;p21">
                <a:extLst>
                  <a:ext uri="{FF2B5EF4-FFF2-40B4-BE49-F238E27FC236}">
                    <a16:creationId xmlns:a16="http://schemas.microsoft.com/office/drawing/2014/main" id="{E3FA4EF7-7728-BF90-94D6-BE5EC7FB81B8}"/>
                  </a:ext>
                </a:extLst>
              </p:cNvPr>
              <p:cNvSpPr txBox="1"/>
              <p:nvPr/>
            </p:nvSpPr>
            <p:spPr>
              <a:xfrm>
                <a:off x="-202911" y="0"/>
                <a:ext cx="2107911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rgbClr val="1A36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Elite Performers</a:t>
                </a:r>
                <a:endParaRPr sz="1600" b="1" dirty="0">
                  <a:solidFill>
                    <a:srgbClr val="1A365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" name="Google Shape;217;p21">
                <a:extLst>
                  <a:ext uri="{FF2B5EF4-FFF2-40B4-BE49-F238E27FC236}">
                    <a16:creationId xmlns:a16="http://schemas.microsoft.com/office/drawing/2014/main" id="{89CC073D-5EDE-849F-596C-17CE39DA6512}"/>
                  </a:ext>
                </a:extLst>
              </p:cNvPr>
              <p:cNvSpPr/>
              <p:nvPr/>
            </p:nvSpPr>
            <p:spPr>
              <a:xfrm>
                <a:off x="2095500" y="95250"/>
                <a:ext cx="78105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18;p21">
                <a:extLst>
                  <a:ext uri="{FF2B5EF4-FFF2-40B4-BE49-F238E27FC236}">
                    <a16:creationId xmlns:a16="http://schemas.microsoft.com/office/drawing/2014/main" id="{F1B2D42D-D4DD-3F79-E670-3408A46ECD93}"/>
                  </a:ext>
                </a:extLst>
              </p:cNvPr>
              <p:cNvSpPr/>
              <p:nvPr/>
            </p:nvSpPr>
            <p:spPr>
              <a:xfrm>
                <a:off x="2095500" y="95250"/>
                <a:ext cx="78105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" name="Google Shape;219;p21">
                <a:extLst>
                  <a:ext uri="{FF2B5EF4-FFF2-40B4-BE49-F238E27FC236}">
                    <a16:creationId xmlns:a16="http://schemas.microsoft.com/office/drawing/2014/main" id="{9D90ED01-7624-DCF7-50BE-0F49B2697B72}"/>
                  </a:ext>
                </a:extLst>
              </p:cNvPr>
              <p:cNvSpPr txBox="1"/>
              <p:nvPr/>
            </p:nvSpPr>
            <p:spPr>
              <a:xfrm>
                <a:off x="2286000" y="0"/>
                <a:ext cx="7430944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latin typeface="Lato"/>
                    <a:ea typeface="Lato"/>
                    <a:cs typeface="Lato"/>
                    <a:sym typeface="Lato"/>
                  </a:rPr>
                  <a:t>Lead Time: Under 1 Hour</a:t>
                </a:r>
                <a:endParaRPr sz="1400" b="1" dirty="0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" name="Google Shape;220;p21">
              <a:extLst>
                <a:ext uri="{FF2B5EF4-FFF2-40B4-BE49-F238E27FC236}">
                  <a16:creationId xmlns:a16="http://schemas.microsoft.com/office/drawing/2014/main" id="{2A076CF6-D829-618F-4100-4C8ADB7A3BED}"/>
                </a:ext>
              </a:extLst>
            </p:cNvPr>
            <p:cNvGrpSpPr/>
            <p:nvPr/>
          </p:nvGrpSpPr>
          <p:grpSpPr>
            <a:xfrm>
              <a:off x="178089" y="1047750"/>
              <a:ext cx="10108911" cy="571500"/>
              <a:chOff x="-202911" y="0"/>
              <a:chExt cx="10108911" cy="571500"/>
            </a:xfrm>
          </p:grpSpPr>
          <p:sp>
            <p:nvSpPr>
              <p:cNvPr id="22" name="Google Shape;221;p21">
                <a:extLst>
                  <a:ext uri="{FF2B5EF4-FFF2-40B4-BE49-F238E27FC236}">
                    <a16:creationId xmlns:a16="http://schemas.microsoft.com/office/drawing/2014/main" id="{A965B3B4-EFC6-66B6-9E61-F2EA471AAC54}"/>
                  </a:ext>
                </a:extLst>
              </p:cNvPr>
              <p:cNvSpPr txBox="1"/>
              <p:nvPr/>
            </p:nvSpPr>
            <p:spPr>
              <a:xfrm>
                <a:off x="-202911" y="0"/>
                <a:ext cx="2107911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rgbClr val="1A36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High Performers</a:t>
                </a:r>
                <a:endParaRPr sz="1600" b="1" dirty="0">
                  <a:solidFill>
                    <a:srgbClr val="1A365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" name="Google Shape;222;p21">
                <a:extLst>
                  <a:ext uri="{FF2B5EF4-FFF2-40B4-BE49-F238E27FC236}">
                    <a16:creationId xmlns:a16="http://schemas.microsoft.com/office/drawing/2014/main" id="{0E9B9E9D-4F7B-129B-DE81-C905005C4D74}"/>
                  </a:ext>
                </a:extLst>
              </p:cNvPr>
              <p:cNvSpPr/>
              <p:nvPr/>
            </p:nvSpPr>
            <p:spPr>
              <a:xfrm>
                <a:off x="2095500" y="95250"/>
                <a:ext cx="78105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23;p21">
                <a:extLst>
                  <a:ext uri="{FF2B5EF4-FFF2-40B4-BE49-F238E27FC236}">
                    <a16:creationId xmlns:a16="http://schemas.microsoft.com/office/drawing/2014/main" id="{AB099F90-6596-47E8-AC54-85685CBF4293}"/>
                  </a:ext>
                </a:extLst>
              </p:cNvPr>
              <p:cNvSpPr/>
              <p:nvPr/>
            </p:nvSpPr>
            <p:spPr>
              <a:xfrm>
                <a:off x="2095499" y="95250"/>
                <a:ext cx="5714999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" name="Google Shape;224;p21">
                <a:extLst>
                  <a:ext uri="{FF2B5EF4-FFF2-40B4-BE49-F238E27FC236}">
                    <a16:creationId xmlns:a16="http://schemas.microsoft.com/office/drawing/2014/main" id="{DF189803-6951-07B2-0931-979D1373120C}"/>
                  </a:ext>
                </a:extLst>
              </p:cNvPr>
              <p:cNvSpPr txBox="1"/>
              <p:nvPr/>
            </p:nvSpPr>
            <p:spPr>
              <a:xfrm>
                <a:off x="2285999" y="0"/>
                <a:ext cx="7430943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latin typeface="Lato"/>
                    <a:ea typeface="Lato"/>
                    <a:cs typeface="Lato"/>
                    <a:sym typeface="Lato"/>
                  </a:rPr>
                  <a:t>Lead Time: 1 Day – 1 Week</a:t>
                </a:r>
                <a:endParaRPr sz="1400" b="1" dirty="0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" name="Google Shape;225;p21">
              <a:extLst>
                <a:ext uri="{FF2B5EF4-FFF2-40B4-BE49-F238E27FC236}">
                  <a16:creationId xmlns:a16="http://schemas.microsoft.com/office/drawing/2014/main" id="{0EC9C5B7-4392-0E5F-B36E-E5BE93AD015D}"/>
                </a:ext>
              </a:extLst>
            </p:cNvPr>
            <p:cNvGrpSpPr/>
            <p:nvPr/>
          </p:nvGrpSpPr>
          <p:grpSpPr>
            <a:xfrm>
              <a:off x="178089" y="1809750"/>
              <a:ext cx="10108911" cy="571500"/>
              <a:chOff x="-202911" y="0"/>
              <a:chExt cx="10108911" cy="571500"/>
            </a:xfrm>
          </p:grpSpPr>
          <p:sp>
            <p:nvSpPr>
              <p:cNvPr id="18" name="Google Shape;226;p21">
                <a:extLst>
                  <a:ext uri="{FF2B5EF4-FFF2-40B4-BE49-F238E27FC236}">
                    <a16:creationId xmlns:a16="http://schemas.microsoft.com/office/drawing/2014/main" id="{11C16E76-803D-3D87-8E05-27B7D8A828C7}"/>
                  </a:ext>
                </a:extLst>
              </p:cNvPr>
              <p:cNvSpPr txBox="1"/>
              <p:nvPr/>
            </p:nvSpPr>
            <p:spPr>
              <a:xfrm>
                <a:off x="-202911" y="0"/>
                <a:ext cx="2107911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rgbClr val="1A36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Medium Performers</a:t>
                </a:r>
                <a:endParaRPr sz="1600" b="1" dirty="0">
                  <a:solidFill>
                    <a:srgbClr val="1A365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" name="Google Shape;227;p21">
                <a:extLst>
                  <a:ext uri="{FF2B5EF4-FFF2-40B4-BE49-F238E27FC236}">
                    <a16:creationId xmlns:a16="http://schemas.microsoft.com/office/drawing/2014/main" id="{551AC412-A774-9C13-DA21-57575CFAA1DF}"/>
                  </a:ext>
                </a:extLst>
              </p:cNvPr>
              <p:cNvSpPr/>
              <p:nvPr/>
            </p:nvSpPr>
            <p:spPr>
              <a:xfrm>
                <a:off x="2095500" y="95250"/>
                <a:ext cx="78105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28;p21">
                <a:extLst>
                  <a:ext uri="{FF2B5EF4-FFF2-40B4-BE49-F238E27FC236}">
                    <a16:creationId xmlns:a16="http://schemas.microsoft.com/office/drawing/2014/main" id="{2B3D3E62-288F-D5E0-845D-196883882572}"/>
                  </a:ext>
                </a:extLst>
              </p:cNvPr>
              <p:cNvSpPr/>
              <p:nvPr/>
            </p:nvSpPr>
            <p:spPr>
              <a:xfrm>
                <a:off x="2095500" y="95250"/>
                <a:ext cx="3429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" name="Google Shape;229;p21">
                <a:extLst>
                  <a:ext uri="{FF2B5EF4-FFF2-40B4-BE49-F238E27FC236}">
                    <a16:creationId xmlns:a16="http://schemas.microsoft.com/office/drawing/2014/main" id="{A9E5E7F1-4505-C2F0-4058-0E917045D423}"/>
                  </a:ext>
                </a:extLst>
              </p:cNvPr>
              <p:cNvSpPr txBox="1"/>
              <p:nvPr/>
            </p:nvSpPr>
            <p:spPr>
              <a:xfrm>
                <a:off x="2285999" y="0"/>
                <a:ext cx="7620001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latin typeface="Lato"/>
                    <a:ea typeface="Lato"/>
                    <a:cs typeface="Lato"/>
                    <a:sym typeface="Lato"/>
                  </a:rPr>
                  <a:t>Lead Time: 1 Week – 1 Month</a:t>
                </a:r>
                <a:endParaRPr sz="1400" b="1" dirty="0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" name="Google Shape;230;p21">
              <a:extLst>
                <a:ext uri="{FF2B5EF4-FFF2-40B4-BE49-F238E27FC236}">
                  <a16:creationId xmlns:a16="http://schemas.microsoft.com/office/drawing/2014/main" id="{8E7C296D-8F35-BE18-1A1F-4D01DA815962}"/>
                </a:ext>
              </a:extLst>
            </p:cNvPr>
            <p:cNvGrpSpPr/>
            <p:nvPr/>
          </p:nvGrpSpPr>
          <p:grpSpPr>
            <a:xfrm>
              <a:off x="178089" y="2571750"/>
              <a:ext cx="10108911" cy="571500"/>
              <a:chOff x="-202911" y="0"/>
              <a:chExt cx="10108911" cy="571500"/>
            </a:xfrm>
          </p:grpSpPr>
          <p:sp>
            <p:nvSpPr>
              <p:cNvPr id="14" name="Google Shape;231;p21">
                <a:extLst>
                  <a:ext uri="{FF2B5EF4-FFF2-40B4-BE49-F238E27FC236}">
                    <a16:creationId xmlns:a16="http://schemas.microsoft.com/office/drawing/2014/main" id="{E38FD480-4C4F-3E95-5475-75C7A2895866}"/>
                  </a:ext>
                </a:extLst>
              </p:cNvPr>
              <p:cNvSpPr txBox="1"/>
              <p:nvPr/>
            </p:nvSpPr>
            <p:spPr>
              <a:xfrm>
                <a:off x="-202911" y="0"/>
                <a:ext cx="2107911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rgbClr val="1A36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Low Performers</a:t>
                </a:r>
                <a:endParaRPr sz="1600" b="1" dirty="0">
                  <a:solidFill>
                    <a:srgbClr val="1A365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" name="Google Shape;232;p21">
                <a:extLst>
                  <a:ext uri="{FF2B5EF4-FFF2-40B4-BE49-F238E27FC236}">
                    <a16:creationId xmlns:a16="http://schemas.microsoft.com/office/drawing/2014/main" id="{A3463617-9448-73EE-4955-8D474E20D1D7}"/>
                  </a:ext>
                </a:extLst>
              </p:cNvPr>
              <p:cNvSpPr/>
              <p:nvPr/>
            </p:nvSpPr>
            <p:spPr>
              <a:xfrm>
                <a:off x="2095500" y="95250"/>
                <a:ext cx="78105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33;p21">
                <a:extLst>
                  <a:ext uri="{FF2B5EF4-FFF2-40B4-BE49-F238E27FC236}">
                    <a16:creationId xmlns:a16="http://schemas.microsoft.com/office/drawing/2014/main" id="{A2B1EA72-071E-3AD7-9192-6D7DDDDFA33E}"/>
                  </a:ext>
                </a:extLst>
              </p:cNvPr>
              <p:cNvSpPr/>
              <p:nvPr/>
            </p:nvSpPr>
            <p:spPr>
              <a:xfrm>
                <a:off x="2095500" y="95250"/>
                <a:ext cx="2255116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" name="Google Shape;234;p21">
                <a:extLst>
                  <a:ext uri="{FF2B5EF4-FFF2-40B4-BE49-F238E27FC236}">
                    <a16:creationId xmlns:a16="http://schemas.microsoft.com/office/drawing/2014/main" id="{B6A39B4E-6035-CE06-A407-7B218CCD3136}"/>
                  </a:ext>
                </a:extLst>
              </p:cNvPr>
              <p:cNvSpPr txBox="1"/>
              <p:nvPr/>
            </p:nvSpPr>
            <p:spPr>
              <a:xfrm>
                <a:off x="2238375" y="0"/>
                <a:ext cx="2857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latin typeface="Lato"/>
                    <a:ea typeface="Lato"/>
                    <a:cs typeface="Lato"/>
                    <a:sym typeface="Lato"/>
                  </a:rPr>
                  <a:t>Lead Time: 1 – 6+ Months</a:t>
                </a:r>
                <a:endParaRPr sz="1400" b="1" dirty="0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(DevOps Handbook, Online Content, Slides/Templates)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E0921D-4C1D-4106-9AC0-F73F30E8D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56370"/>
              </p:ext>
            </p:extLst>
          </p:nvPr>
        </p:nvGraphicFramePr>
        <p:xfrm>
          <a:off x="431800" y="956478"/>
          <a:ext cx="11328000" cy="531357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849360">
                  <a:extLst>
                    <a:ext uri="{9D8B030D-6E8A-4147-A177-3AD203B41FA5}">
                      <a16:colId xmlns:a16="http://schemas.microsoft.com/office/drawing/2014/main" val="1173992025"/>
                    </a:ext>
                  </a:extLst>
                </a:gridCol>
                <a:gridCol w="2478640">
                  <a:extLst>
                    <a:ext uri="{9D8B030D-6E8A-4147-A177-3AD203B41FA5}">
                      <a16:colId xmlns:a16="http://schemas.microsoft.com/office/drawing/2014/main" val="115202853"/>
                    </a:ext>
                  </a:extLst>
                </a:gridCol>
              </a:tblGrid>
              <a:tr h="454722"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Source Title and Link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Slide(s) Referenced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23600"/>
                  </a:ext>
                </a:extLst>
              </a:tr>
              <a:tr h="563564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The DevOps Handbook (pg. 49-58): How to Create World-Class Agility, Reliability, &amp; Security in Technology Organizations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Slides 3, 4, 5,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495943"/>
                  </a:ext>
                </a:extLst>
              </a:tr>
              <a:tr h="53496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hlinkClick r:id="rId2"/>
                        </a:rPr>
                        <a:t>Medium: 5-Minute DevOps: The Strategic Reasons for DevSecOps</a:t>
                      </a:r>
                      <a:endParaRPr 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Slide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132828"/>
                  </a:ext>
                </a:extLst>
              </a:tr>
              <a:tr h="534966">
                <a:tc>
                  <a:txBody>
                    <a:bodyPr/>
                    <a:lstStyle/>
                    <a:p>
                      <a:pPr algn="l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hlinkClick r:id="rId3"/>
                        </a:rPr>
                        <a:t>Octopus Deploy: Why are there so many definitions of Lead Time?</a:t>
                      </a:r>
                      <a:endParaRPr lang="en-ZA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Slide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300830"/>
                  </a:ext>
                </a:extLst>
              </a:tr>
              <a:tr h="53496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hlinkClick r:id="rId4"/>
                        </a:rPr>
                        <a:t>Azure DevOps: Configure lead time and cycle time widgets</a:t>
                      </a:r>
                      <a:endParaRPr 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Slides 3,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728417"/>
                  </a:ext>
                </a:extLst>
              </a:tr>
              <a:tr h="534966">
                <a:tc>
                  <a:txBody>
                    <a:bodyPr/>
                    <a:lstStyle/>
                    <a:p>
                      <a:pPr algn="l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hlinkClick r:id="rId5"/>
                        </a:rPr>
                        <a:t>Humanitec: Lead Time – a Key Metrics in DevOps</a:t>
                      </a:r>
                      <a:endParaRPr lang="en-ZA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Slide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078208"/>
                  </a:ext>
                </a:extLst>
              </a:tr>
              <a:tr h="534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hlinkClick r:id="rId6"/>
                        </a:rPr>
                        <a:t>Medium/Stackademic: Spring Boot is Becoming a Modular Monolith</a:t>
                      </a:r>
                      <a:endParaRPr lang="en-ZA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Slide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537098"/>
                  </a:ext>
                </a:extLst>
              </a:tr>
              <a:tr h="534966">
                <a:tc>
                  <a:txBody>
                    <a:bodyPr/>
                    <a:lstStyle/>
                    <a:p>
                      <a:pPr algn="l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hlinkClick r:id="rId7"/>
                        </a:rPr>
                        <a:t>Axify: Deployment Time: What it is. How to Measure &amp; Improve</a:t>
                      </a:r>
                      <a:endParaRPr lang="en-ZA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Slide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822472"/>
                  </a:ext>
                </a:extLst>
              </a:tr>
              <a:tr h="534966">
                <a:tc>
                  <a:txBody>
                    <a:bodyPr/>
                    <a:lstStyle/>
                    <a:p>
                      <a:pPr algn="l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hlinkClick r:id="rId8"/>
                        </a:rPr>
                        <a:t>DX: What are DORA Metrics? Complete guide to measuring DevOps performance</a:t>
                      </a:r>
                      <a:endParaRPr lang="en-ZA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Slide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271569"/>
                  </a:ext>
                </a:extLst>
              </a:tr>
              <a:tr h="534966">
                <a:tc>
                  <a:txBody>
                    <a:bodyPr/>
                    <a:lstStyle/>
                    <a:p>
                      <a:pPr algn="l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Power Point Templates: Bright business presentation, Classic corporate teach a course slides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Slides 1 - 10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67967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Placeholder 31" descr="hand clapping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/>
              <a:t>Justin Morrow</a:t>
            </a:r>
          </a:p>
        </p:txBody>
      </p:sp>
      <p:pic>
        <p:nvPicPr>
          <p:cNvPr id="8" name="Graphic 7" descr="User" title="Icon - Presenter Name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5495" y="4006655"/>
            <a:ext cx="218900" cy="2189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/>
              <a:t>06/06/26</a:t>
            </a:r>
          </a:p>
        </p:txBody>
      </p:sp>
      <p:pic>
        <p:nvPicPr>
          <p:cNvPr id="10" name="Graphic 9" descr="Monthly calendar with solid fill">
            <a:extLst>
              <a:ext uri="{FF2B5EF4-FFF2-40B4-BE49-F238E27FC236}">
                <a16:creationId xmlns:a16="http://schemas.microsoft.com/office/drawing/2014/main" id="{A29DE31C-E099-4579-BB03-675E0A40C5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85495" y="4355103"/>
            <a:ext cx="218900" cy="2189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/>
              <a:t>CSD 380 – Module 1.2</a:t>
            </a:r>
          </a:p>
        </p:txBody>
      </p:sp>
      <p:pic>
        <p:nvPicPr>
          <p:cNvPr id="9" name="Graphic 8" descr="Open book outline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485495" y="4703551"/>
            <a:ext cx="218900" cy="2189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/>
              <a:t>Professor Mazhata</a:t>
            </a:r>
          </a:p>
        </p:txBody>
      </p:sp>
      <p:pic>
        <p:nvPicPr>
          <p:cNvPr id="11" name="Graphic 10" descr="Teacher with solid fill">
            <a:extLst>
              <a:ext uri="{FF2B5EF4-FFF2-40B4-BE49-F238E27FC236}">
                <a16:creationId xmlns:a16="http://schemas.microsoft.com/office/drawing/2014/main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1472552" y="5040763"/>
            <a:ext cx="244786" cy="244786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0_Bright business presentation_AAS_v3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E15EA0-2F38-456B-B156-038699A5D1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90D0D0-7C1D-47FF-A2F0-9937AA567A3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245E38-7A2C-4D38-96FA-24EAC5F220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Bright business presentation</Template>
  <TotalTime>291</TotalTime>
  <Words>538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Candara</vt:lpstr>
      <vt:lpstr>Corbel</vt:lpstr>
      <vt:lpstr>Courier New</vt:lpstr>
      <vt:lpstr>Lato</vt:lpstr>
      <vt:lpstr>Poppins</vt:lpstr>
      <vt:lpstr>Times New Roman</vt:lpstr>
      <vt:lpstr>Custom</vt:lpstr>
      <vt:lpstr>The Technology Value Stream</vt:lpstr>
      <vt:lpstr>Building the Strategic Capability</vt:lpstr>
      <vt:lpstr>LEAD TIME VS. PROCESSING TIME</vt:lpstr>
      <vt:lpstr>Hidden Cost of Queues</vt:lpstr>
      <vt:lpstr>The Struggle:</vt:lpstr>
      <vt:lpstr>Our DevOps Ideal</vt:lpstr>
      <vt:lpstr>Architecture for Speed</vt:lpstr>
      <vt:lpstr>Performance Benchmark</vt:lpstr>
      <vt:lpstr>Resources (DevOps Handbook, Online Content, Slides/Templates)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Morrow</dc:creator>
  <cp:lastModifiedBy>Justin Morrow</cp:lastModifiedBy>
  <cp:revision>76</cp:revision>
  <dcterms:created xsi:type="dcterms:W3CDTF">2026-06-06T19:14:43Z</dcterms:created>
  <dcterms:modified xsi:type="dcterms:W3CDTF">2026-06-07T00:09:47Z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